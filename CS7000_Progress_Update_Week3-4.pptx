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224" y="2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6419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95959"/>
                </a:solidFill>
                <a:latin typeface="Arial"/>
                <a:ea typeface="Arial"/>
                <a:cs typeface="Aria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95959"/>
                </a:solidFill>
                <a:latin typeface="Arial"/>
                <a:ea typeface="Arial"/>
                <a:cs typeface="Aria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463040"/>
            <a:ext cx="11091672" cy="1371600"/>
          </a:xfrm>
          <a:prstGeom prst="rect">
            <a:avLst/>
          </a:prstGeom>
          <a:noFill/>
          <a:ln/>
        </p:spPr>
        <p:txBody>
          <a:bodyPr wrap="square" lIns="0" tIns="0" rIns="0" bIns="0" rtlCol="0" anchor="b"/>
          <a:lstStyle/>
          <a:p>
            <a:pPr marL="0" indent="0">
              <a:buNone/>
            </a:pPr>
            <a:r>
              <a:rPr lang="en-US" sz="3800" b="1" dirty="0">
                <a:solidFill>
                  <a:srgbClr val="000000"/>
                </a:solidFill>
                <a:latin typeface="Arial" pitchFamily="34" charset="0"/>
                <a:ea typeface="Arial" pitchFamily="34" charset="-122"/>
                <a:cs typeface="Arial" pitchFamily="34" charset="-120"/>
              </a:rPr>
              <a:t>Progress Update: Week 3 (Revised) and Week 4</a:t>
            </a:r>
            <a:endParaRPr lang="en-US" sz="3800" dirty="0"/>
          </a:p>
        </p:txBody>
      </p:sp>
      <p:sp>
        <p:nvSpPr>
          <p:cNvPr id="3" name="Text 1"/>
          <p:cNvSpPr txBox="1"/>
          <p:nvPr/>
        </p:nvSpPr>
        <p:spPr>
          <a:xfrm>
            <a:off x="548640" y="3017520"/>
            <a:ext cx="11091672" cy="548640"/>
          </a:xfrm>
          <a:prstGeom prst="rect">
            <a:avLst/>
          </a:prstGeom>
          <a:noFill/>
          <a:ln/>
        </p:spPr>
        <p:txBody>
          <a:bodyPr wrap="square" lIns="0" tIns="0" rIns="0" bIns="0" rtlCol="0" anchor="ctr"/>
          <a:lstStyle/>
          <a:p>
            <a:pPr marL="0" indent="0">
              <a:buNone/>
            </a:pPr>
            <a:r>
              <a:rPr lang="en-US" sz="2000" i="1" dirty="0">
                <a:solidFill>
                  <a:srgbClr val="000000"/>
                </a:solidFill>
                <a:latin typeface="Arial" pitchFamily="34" charset="0"/>
                <a:ea typeface="Arial" pitchFamily="34" charset="-122"/>
                <a:cs typeface="Arial" pitchFamily="34" charset="-120"/>
              </a:rPr>
              <a:t>Edge-Compute Feasibility of Cooperative Perception Fusion for Connected Autonomous Vehicles</a:t>
            </a:r>
            <a:endParaRPr lang="en-US" sz="2000" dirty="0"/>
          </a:p>
        </p:txBody>
      </p:sp>
      <p:sp>
        <p:nvSpPr>
          <p:cNvPr id="4" name="Text 2"/>
          <p:cNvSpPr txBox="1"/>
          <p:nvPr/>
        </p:nvSpPr>
        <p:spPr>
          <a:xfrm>
            <a:off x="548640" y="3931920"/>
            <a:ext cx="11091672" cy="457200"/>
          </a:xfrm>
          <a:prstGeom prst="rect">
            <a:avLst/>
          </a:prstGeom>
          <a:noFill/>
          <a:ln/>
        </p:spPr>
        <p:txBody>
          <a:bodyPr wrap="square" lIns="0" tIns="0" rIns="0" bIns="0" rtlCol="0" anchor="ctr"/>
          <a:lstStyle/>
          <a:p>
            <a:pPr marL="0" indent="0">
              <a:buNone/>
            </a:pPr>
            <a:r>
              <a:rPr lang="en-US" sz="1600" dirty="0">
                <a:solidFill>
                  <a:srgbClr val="000000"/>
                </a:solidFill>
                <a:latin typeface="Arial" pitchFamily="34" charset="0"/>
                <a:ea typeface="Arial" pitchFamily="34" charset="-122"/>
                <a:cs typeface="Arial" pitchFamily="34" charset="-120"/>
              </a:rPr>
              <a:t>Ganesh Adhikari  |  CS 7000  |  Advisor: Dr. Liangkai Liu  |  October 2026</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95959"/>
                </a:solidFill>
                <a:latin typeface="Arial"/>
                <a:ea typeface="Arial"/>
                <a:cs typeface="Arial"/>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1672" cy="731520"/>
          </a:xfrm>
          <a:prstGeom prst="rect">
            <a:avLst/>
          </a:prstGeom>
          <a:noFill/>
          <a:ln/>
        </p:spPr>
        <p:txBody>
          <a:bodyPr wrap="square" lIns="0" tIns="0" rIns="0" bIns="0" rtlCol="0" anchor="ctr"/>
          <a:lstStyle/>
          <a:p>
            <a:pPr marL="0" indent="0">
              <a:buNone/>
            </a:pPr>
            <a:r>
              <a:rPr lang="en-US" sz="3200" b="1" dirty="0">
                <a:solidFill>
                  <a:srgbClr val="000000"/>
                </a:solidFill>
                <a:latin typeface="Arial" pitchFamily="34" charset="0"/>
                <a:ea typeface="Arial" pitchFamily="34" charset="-122"/>
                <a:cs typeface="Arial" pitchFamily="34" charset="-120"/>
              </a:rPr>
              <a:t>In One Paragraph</a:t>
            </a:r>
            <a:endParaRPr lang="en-US" sz="3200" dirty="0"/>
          </a:p>
        </p:txBody>
      </p:sp>
      <p:sp>
        <p:nvSpPr>
          <p:cNvPr id="3" name="Text 1"/>
          <p:cNvSpPr txBox="1"/>
          <p:nvPr/>
        </p:nvSpPr>
        <p:spPr>
          <a:xfrm>
            <a:off x="548640" y="1371600"/>
            <a:ext cx="11091672" cy="4114800"/>
          </a:xfrm>
          <a:prstGeom prst="rect">
            <a:avLst/>
          </a:prstGeom>
          <a:noFill/>
          <a:ln/>
        </p:spPr>
        <p:txBody>
          <a:bodyPr wrap="square" lIns="0" tIns="0" rIns="0" bIns="0" rtlCol="0" anchor="t"/>
          <a:lstStyle/>
          <a:p>
            <a:pPr marL="0" indent="0">
              <a:buNone/>
            </a:pPr>
            <a:r>
              <a:rPr lang="en-US" sz="2200" dirty="0">
                <a:solidFill>
                  <a:srgbClr val="000000"/>
                </a:solidFill>
                <a:latin typeface="Arial" pitchFamily="34" charset="0"/>
                <a:ea typeface="Arial" pitchFamily="34" charset="-122"/>
                <a:cs typeface="Arial" pitchFamily="34" charset="-120"/>
              </a:rPr>
              <a:t>We finished the accuracy evaluation on the larger dataset and measured how much computer power each model needs. V2VNet is clearly the most accurate, and it improves detection for every vehicle. when2com turns out to be bigger, slower and less accurate than a vehicle working alone. All models fit in a Jetson Nano's memory, but none is fast enough to run on it in real time without optimisation.</a:t>
            </a:r>
            <a:endParaRPr lang="en-US" sz="2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95959"/>
                </a:solidFill>
                <a:latin typeface="Arial"/>
                <a:ea typeface="Arial"/>
                <a:cs typeface="Aria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91672" cy="731520"/>
          </a:xfrm>
          <a:prstGeom prst="rect">
            <a:avLst/>
          </a:prstGeom>
          <a:noFill/>
          <a:ln/>
        </p:spPr>
        <p:txBody>
          <a:bodyPr wrap="square" lIns="0" tIns="0" rIns="0" bIns="0" rtlCol="0" anchor="ctr"/>
          <a:lstStyle/>
          <a:p>
            <a:pPr marL="0" indent="0">
              <a:buNone/>
            </a:pPr>
            <a:r>
              <a:rPr lang="en-US" sz="3200" b="1" dirty="0">
                <a:solidFill>
                  <a:srgbClr val="000000"/>
                </a:solidFill>
                <a:latin typeface="Arial" pitchFamily="34" charset="0"/>
                <a:ea typeface="Arial" pitchFamily="34" charset="-122"/>
                <a:cs typeface="Arial" pitchFamily="34" charset="-120"/>
              </a:rPr>
              <a:t>Week 3 (Revised): Three Fixes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2326640"/>
        </p:xfrm>
        <a:graphic>
          <a:graphicData uri="http://schemas.openxmlformats.org/drawingml/2006/table">
            <a:tbl>
              <a:tblPr/>
              <a:tblGrid>
                <a:gridCol w="3108960">
                  <a:extLst>
                    <a:ext uri="{9D8B030D-6E8A-4147-A177-3AD203B41FA5}">
                      <a16:colId xmlns:a16="http://schemas.microsoft.com/office/drawing/2014/main" val="20000"/>
                    </a:ext>
                  </a:extLst>
                </a:gridCol>
                <a:gridCol w="7982712">
                  <a:extLst>
                    <a:ext uri="{9D8B030D-6E8A-4147-A177-3AD203B41FA5}">
                      <a16:colId xmlns:a16="http://schemas.microsoft.com/office/drawing/2014/main" val="20001"/>
                    </a:ext>
                  </a:extLst>
                </a:gridCol>
              </a:tblGrid>
              <a:tr h="0">
                <a:tc>
                  <a:txBody>
                    <a:bodyPr/>
                    <a:lstStyle/>
                    <a:p>
                      <a:pPr marL="0" indent="0" algn="ctr">
                        <a:buNone/>
                      </a:pPr>
                      <a:r>
                        <a:rPr lang="en-US" sz="1800" b="1" dirty="0">
                          <a:solidFill>
                            <a:srgbClr val="000000"/>
                          </a:solidFill>
                          <a:latin typeface="Arial" pitchFamily="34" charset="0"/>
                          <a:ea typeface="Arial" pitchFamily="34" charset="-122"/>
                          <a:cs typeface="Arial" pitchFamily="34" charset="-120"/>
                        </a:rPr>
                        <a:t>You asked for</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D9D9D9"/>
                    </a:solidFill>
                  </a:tcPr>
                </a:tc>
                <a:tc>
                  <a:txBody>
                    <a:bodyPr/>
                    <a:lstStyle/>
                    <a:p>
                      <a:pPr marL="0" indent="0" algn="ctr">
                        <a:buNone/>
                      </a:pPr>
                      <a:r>
                        <a:rPr lang="en-US" sz="1800" b="1" dirty="0">
                          <a:solidFill>
                            <a:srgbClr val="000000"/>
                          </a:solidFill>
                          <a:latin typeface="Arial" pitchFamily="34" charset="0"/>
                          <a:ea typeface="Arial" pitchFamily="34" charset="-122"/>
                          <a:cs typeface="Arial" pitchFamily="34" charset="-120"/>
                        </a:rPr>
                        <a:t>What we did</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0">
                <a:tc>
                  <a:txBody>
                    <a:bodyPr/>
                    <a:lstStyle/>
                    <a:p>
                      <a:pPr marL="0" indent="0" algn="l">
                        <a:buNone/>
                      </a:pPr>
                      <a:r>
                        <a:rPr lang="en-US" sz="1800" dirty="0">
                          <a:solidFill>
                            <a:srgbClr val="000000"/>
                          </a:solidFill>
                          <a:latin typeface="Arial" pitchFamily="34" charset="0"/>
                          <a:ea typeface="Arial" pitchFamily="34" charset="-122"/>
                          <a:cs typeface="Arial" pitchFamily="34" charset="-120"/>
                        </a:rPr>
                        <a:t>At least 20 scenes</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indent="0" algn="l">
                        <a:buNone/>
                      </a:pPr>
                      <a:r>
                        <a:rPr lang="en-US" sz="1800" dirty="0">
                          <a:solidFill>
                            <a:srgbClr val="000000"/>
                          </a:solidFill>
                          <a:latin typeface="Arial" pitchFamily="34" charset="0"/>
                          <a:ea typeface="Arial" pitchFamily="34" charset="-122"/>
                          <a:cs typeface="Arial" pitchFamily="34" charset="-120"/>
                        </a:rPr>
                        <a:t>Used 20 scenes: 14 train, 3 validation, 3 test. All results come from the 3 test scenes the models never saw.</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800" dirty="0">
                          <a:solidFill>
                            <a:srgbClr val="000000"/>
                          </a:solidFill>
                          <a:latin typeface="Arial" pitchFamily="34" charset="0"/>
                          <a:ea typeface="Arial" pitchFamily="34" charset="-122"/>
                          <a:cs typeface="Arial" pitchFamily="34" charset="-120"/>
                        </a:rPr>
                        <a:t>Point-cloud pictures, not just numbers</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tc>
                  <a:txBody>
                    <a:bodyPr/>
                    <a:lstStyle/>
                    <a:p>
                      <a:pPr marL="0" indent="0" algn="l">
                        <a:buNone/>
                      </a:pPr>
                      <a:r>
                        <a:rPr lang="en-US" sz="1800" dirty="0">
                          <a:solidFill>
                            <a:srgbClr val="000000"/>
                          </a:solidFill>
                          <a:latin typeface="Arial" pitchFamily="34" charset="0"/>
                          <a:ea typeface="Arial" pitchFamily="34" charset="-122"/>
                          <a:cs typeface="Arial" pitchFamily="34" charset="-120"/>
                        </a:rPr>
                        <a:t>Rendered detections for every test scene. Two comparison figures follow.</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0">
                <a:tc>
                  <a:txBody>
                    <a:bodyPr/>
                    <a:lstStyle/>
                    <a:p>
                      <a:pPr marL="0" indent="0" algn="l">
                        <a:buNone/>
                      </a:pPr>
                      <a:r>
                        <a:rPr lang="en-US" sz="1800" dirty="0">
                          <a:solidFill>
                            <a:srgbClr val="000000"/>
                          </a:solidFill>
                          <a:latin typeface="Arial" pitchFamily="34" charset="0"/>
                          <a:ea typeface="Arial" pitchFamily="34" charset="-122"/>
                          <a:cs typeface="Arial" pitchFamily="34" charset="-120"/>
                        </a:rPr>
                        <a:t>Per-class AP</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indent="0" algn="l">
                        <a:buNone/>
                      </a:pPr>
                      <a:r>
                        <a:rPr lang="en-US" sz="1800" dirty="0">
                          <a:solidFill>
                            <a:srgbClr val="000000"/>
                          </a:solidFill>
                          <a:latin typeface="Arial" pitchFamily="34" charset="0"/>
                          <a:ea typeface="Arial" pitchFamily="34" charset="-122"/>
                          <a:cs typeface="Arial" pitchFamily="34" charset="-120"/>
                        </a:rPr>
                        <a:t>Not possible: the released models detect one class (vehicle). We report accuracy per vehicle instead, which shows who benefits from cooperation.</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95959"/>
                </a:solidFill>
                <a:latin typeface="Arial"/>
                <a:ea typeface="Arial"/>
                <a:cs typeface="Aria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1672" cy="731520"/>
          </a:xfrm>
          <a:prstGeom prst="rect">
            <a:avLst/>
          </a:prstGeom>
          <a:noFill/>
          <a:ln/>
        </p:spPr>
        <p:txBody>
          <a:bodyPr wrap="square" lIns="0" tIns="0" rIns="0" bIns="0" rtlCol="0" anchor="ctr"/>
          <a:lstStyle/>
          <a:p>
            <a:pPr marL="0" indent="0">
              <a:buNone/>
            </a:pPr>
            <a:r>
              <a:rPr lang="en-US" sz="3200" b="1" dirty="0">
                <a:solidFill>
                  <a:srgbClr val="000000"/>
                </a:solidFill>
                <a:latin typeface="Arial" pitchFamily="34" charset="0"/>
                <a:ea typeface="Arial" pitchFamily="34" charset="-122"/>
                <a:cs typeface="Arial" pitchFamily="34" charset="-120"/>
              </a:rPr>
              <a:t>Accuracy</a:t>
            </a:r>
            <a:endParaRPr lang="en-US" sz="3200" dirty="0"/>
          </a:p>
        </p:txBody>
      </p:sp>
      <p:sp>
        <p:nvSpPr>
          <p:cNvPr id="3" name="Text 1"/>
          <p:cNvSpPr txBox="1"/>
          <p:nvPr/>
        </p:nvSpPr>
        <p:spPr>
          <a:xfrm>
            <a:off x="548640" y="1280160"/>
            <a:ext cx="11091672" cy="822960"/>
          </a:xfrm>
          <a:prstGeom prst="rect">
            <a:avLst/>
          </a:prstGeom>
          <a:noFill/>
          <a:ln/>
        </p:spPr>
        <p:txBody>
          <a:bodyPr wrap="square" lIns="0" tIns="0" rIns="0" bIns="0" rtlCol="0" anchor="t"/>
          <a:lstStyle/>
          <a:p>
            <a:pPr marL="0" indent="0">
              <a:buNone/>
            </a:pPr>
            <a:r>
              <a:rPr lang="en-US" sz="1800" dirty="0">
                <a:solidFill>
                  <a:srgbClr val="000000"/>
                </a:solidFill>
                <a:latin typeface="Arial" pitchFamily="34" charset="0"/>
                <a:ea typeface="Arial" pitchFamily="34" charset="-122"/>
                <a:cs typeface="Arial" pitchFamily="34" charset="-120"/>
              </a:rPr>
              <a:t>mAP is the standard detection score (higher is better). IoU 0.5 and 0.7 mean a box must overlap the true object by at least 50% or 70%.</a:t>
            </a:r>
            <a:endParaRPr lang="en-US" sz="1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11091672" cy="914400"/>
        </p:xfrm>
        <a:graphic>
          <a:graphicData uri="http://schemas.openxmlformats.org/drawingml/2006/table">
            <a:tbl>
              <a:tblPr/>
              <a:tblGrid>
                <a:gridCol w="42062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679192">
                  <a:extLst>
                    <a:ext uri="{9D8B030D-6E8A-4147-A177-3AD203B41FA5}">
                      <a16:colId xmlns:a16="http://schemas.microsoft.com/office/drawing/2014/main" val="20003"/>
                    </a:ext>
                  </a:extLst>
                </a:gridCol>
              </a:tblGrid>
              <a:tr h="0">
                <a:tc>
                  <a:txBody>
                    <a:bodyPr/>
                    <a:lstStyle/>
                    <a:p>
                      <a:pPr marL="0" indent="0" algn="ctr">
                        <a:buNone/>
                      </a:pPr>
                      <a:r>
                        <a:rPr lang="en-US" sz="1800" b="1" dirty="0">
                          <a:solidFill>
                            <a:srgbClr val="000000"/>
                          </a:solidFill>
                          <a:latin typeface="Arial" pitchFamily="34" charset="0"/>
                          <a:ea typeface="Arial" pitchFamily="34" charset="-122"/>
                          <a:cs typeface="Arial" pitchFamily="34" charset="-120"/>
                        </a:rPr>
                        <a:t>Model</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D9D9D9"/>
                    </a:solidFill>
                  </a:tcPr>
                </a:tc>
                <a:tc>
                  <a:txBody>
                    <a:bodyPr/>
                    <a:lstStyle/>
                    <a:p>
                      <a:pPr marL="0" indent="0" algn="ctr">
                        <a:buNone/>
                      </a:pPr>
                      <a:r>
                        <a:rPr lang="en-US" sz="1800" b="1" dirty="0">
                          <a:solidFill>
                            <a:srgbClr val="000000"/>
                          </a:solidFill>
                          <a:latin typeface="Arial" pitchFamily="34" charset="0"/>
                          <a:ea typeface="Arial" pitchFamily="34" charset="-122"/>
                          <a:cs typeface="Arial" pitchFamily="34" charset="-120"/>
                        </a:rPr>
                        <a:t>mAP@0.5</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D9D9D9"/>
                    </a:solidFill>
                  </a:tcPr>
                </a:tc>
                <a:tc>
                  <a:txBody>
                    <a:bodyPr/>
                    <a:lstStyle/>
                    <a:p>
                      <a:pPr marL="0" indent="0" algn="ctr">
                        <a:buNone/>
                      </a:pPr>
                      <a:r>
                        <a:rPr lang="en-US" sz="1800" b="1" dirty="0">
                          <a:solidFill>
                            <a:srgbClr val="000000"/>
                          </a:solidFill>
                          <a:latin typeface="Arial" pitchFamily="34" charset="0"/>
                          <a:ea typeface="Arial" pitchFamily="34" charset="-122"/>
                          <a:cs typeface="Arial" pitchFamily="34" charset="-120"/>
                        </a:rPr>
                        <a:t>mAP@0.7</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D9D9D9"/>
                    </a:solidFill>
                  </a:tcPr>
                </a:tc>
                <a:tc>
                  <a:txBody>
                    <a:bodyPr/>
                    <a:lstStyle/>
                    <a:p>
                      <a:pPr marL="0" indent="0" algn="ctr">
                        <a:buNone/>
                      </a:pPr>
                      <a:r>
                        <a:rPr lang="en-US" sz="1800" b="1" dirty="0">
                          <a:solidFill>
                            <a:srgbClr val="000000"/>
                          </a:solidFill>
                          <a:latin typeface="Arial" pitchFamily="34" charset="0"/>
                          <a:ea typeface="Arial" pitchFamily="34" charset="-122"/>
                          <a:cs typeface="Arial" pitchFamily="34" charset="-120"/>
                        </a:rPr>
                        <a:t>Change vs alone</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0">
                <a:tc>
                  <a:txBody>
                    <a:bodyPr/>
                    <a:lstStyle/>
                    <a:p>
                      <a:pPr marL="0" indent="0" algn="l">
                        <a:buNone/>
                      </a:pPr>
                      <a:r>
                        <a:rPr lang="en-US" sz="1800" dirty="0">
                          <a:solidFill>
                            <a:srgbClr val="000000"/>
                          </a:solidFill>
                          <a:latin typeface="Arial" pitchFamily="34" charset="0"/>
                          <a:ea typeface="Arial" pitchFamily="34" charset="-122"/>
                          <a:cs typeface="Arial" pitchFamily="34" charset="-120"/>
                        </a:rPr>
                        <a:t>Lowerbound (no cooperation)</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000000"/>
                          </a:solidFill>
                          <a:latin typeface="Arial" pitchFamily="34" charset="0"/>
                          <a:ea typeface="Arial" pitchFamily="34" charset="-122"/>
                          <a:cs typeface="Arial" pitchFamily="34" charset="-120"/>
                        </a:rPr>
                        <a:t>0.554</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000000"/>
                          </a:solidFill>
                          <a:latin typeface="Arial" pitchFamily="34" charset="0"/>
                          <a:ea typeface="Arial" pitchFamily="34" charset="-122"/>
                          <a:cs typeface="Arial" pitchFamily="34" charset="-120"/>
                        </a:rPr>
                        <a:t>0.491</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000000"/>
                          </a:solidFill>
                          <a:latin typeface="Arial" pitchFamily="34" charset="0"/>
                          <a:ea typeface="Arial" pitchFamily="34" charset="-122"/>
                          <a:cs typeface="Arial" pitchFamily="34" charset="-120"/>
                        </a:rPr>
                        <a:t>reference</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800" dirty="0">
                          <a:solidFill>
                            <a:srgbClr val="000000"/>
                          </a:solidFill>
                          <a:latin typeface="Arial" pitchFamily="34" charset="0"/>
                          <a:ea typeface="Arial" pitchFamily="34" charset="-122"/>
                          <a:cs typeface="Arial" pitchFamily="34" charset="-120"/>
                        </a:rPr>
                        <a:t>V2VNet</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tc>
                  <a:txBody>
                    <a:bodyPr/>
                    <a:lstStyle/>
                    <a:p>
                      <a:pPr marL="0" indent="0" algn="ctr">
                        <a:buNone/>
                      </a:pPr>
                      <a:r>
                        <a:rPr lang="en-US" sz="1800" dirty="0">
                          <a:solidFill>
                            <a:srgbClr val="000000"/>
                          </a:solidFill>
                          <a:latin typeface="Arial" pitchFamily="34" charset="0"/>
                          <a:ea typeface="Arial" pitchFamily="34" charset="-122"/>
                          <a:cs typeface="Arial" pitchFamily="34" charset="-120"/>
                        </a:rPr>
                        <a:t>0.753</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tc>
                  <a:txBody>
                    <a:bodyPr/>
                    <a:lstStyle/>
                    <a:p>
                      <a:pPr marL="0" indent="0" algn="ctr">
                        <a:buNone/>
                      </a:pPr>
                      <a:r>
                        <a:rPr lang="en-US" sz="1800" dirty="0">
                          <a:solidFill>
                            <a:srgbClr val="000000"/>
                          </a:solidFill>
                          <a:latin typeface="Arial" pitchFamily="34" charset="0"/>
                          <a:ea typeface="Arial" pitchFamily="34" charset="-122"/>
                          <a:cs typeface="Arial" pitchFamily="34" charset="-120"/>
                        </a:rPr>
                        <a:t>0.715</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tc>
                  <a:txBody>
                    <a:bodyPr/>
                    <a:lstStyle/>
                    <a:p>
                      <a:pPr marL="0" indent="0" algn="ctr">
                        <a:buNone/>
                      </a:pPr>
                      <a:r>
                        <a:rPr lang="en-US" sz="1800" dirty="0">
                          <a:solidFill>
                            <a:srgbClr val="000000"/>
                          </a:solidFill>
                          <a:latin typeface="Arial" pitchFamily="34" charset="0"/>
                          <a:ea typeface="Arial" pitchFamily="34" charset="-122"/>
                          <a:cs typeface="Arial" pitchFamily="34" charset="-120"/>
                        </a:rPr>
                        <a:t>+0.199</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0">
                <a:tc>
                  <a:txBody>
                    <a:bodyPr/>
                    <a:lstStyle/>
                    <a:p>
                      <a:pPr marL="0" indent="0" algn="l">
                        <a:buNone/>
                      </a:pPr>
                      <a:r>
                        <a:rPr lang="en-US" sz="1800" dirty="0">
                          <a:solidFill>
                            <a:srgbClr val="000000"/>
                          </a:solidFill>
                          <a:latin typeface="Arial" pitchFamily="34" charset="0"/>
                          <a:ea typeface="Arial" pitchFamily="34" charset="-122"/>
                          <a:cs typeface="Arial" pitchFamily="34" charset="-120"/>
                        </a:rPr>
                        <a:t>when2com</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000000"/>
                          </a:solidFill>
                          <a:latin typeface="Arial" pitchFamily="34" charset="0"/>
                          <a:ea typeface="Arial" pitchFamily="34" charset="-122"/>
                          <a:cs typeface="Arial" pitchFamily="34" charset="-120"/>
                        </a:rPr>
                        <a:t>0.501</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000000"/>
                          </a:solidFill>
                          <a:latin typeface="Arial" pitchFamily="34" charset="0"/>
                          <a:ea typeface="Arial" pitchFamily="34" charset="-122"/>
                          <a:cs typeface="Arial" pitchFamily="34" charset="-120"/>
                        </a:rPr>
                        <a:t>0.465</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000000"/>
                          </a:solidFill>
                          <a:latin typeface="Arial" pitchFamily="34" charset="0"/>
                          <a:ea typeface="Arial" pitchFamily="34" charset="-122"/>
                          <a:cs typeface="Arial" pitchFamily="34" charset="-120"/>
                        </a:rPr>
                        <a:t>-0.053</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95959"/>
                </a:solidFill>
                <a:latin typeface="Arial"/>
                <a:ea typeface="Arial"/>
                <a:cs typeface="Aria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1672" cy="731520"/>
          </a:xfrm>
          <a:prstGeom prst="rect">
            <a:avLst/>
          </a:prstGeom>
          <a:noFill/>
          <a:ln/>
        </p:spPr>
        <p:txBody>
          <a:bodyPr wrap="square" lIns="0" tIns="0" rIns="0" bIns="0" rtlCol="0" anchor="ctr"/>
          <a:lstStyle/>
          <a:p>
            <a:pPr marL="0" indent="0">
              <a:buNone/>
            </a:pPr>
            <a:r>
              <a:rPr lang="en-US" sz="3200" b="1" dirty="0">
                <a:solidFill>
                  <a:srgbClr val="000000"/>
                </a:solidFill>
                <a:latin typeface="Arial" pitchFamily="34" charset="0"/>
                <a:ea typeface="Arial" pitchFamily="34" charset="-122"/>
                <a:cs typeface="Arial" pitchFamily="34" charset="-120"/>
              </a:rPr>
              <a:t>Accuracy per Vehicle (mAP@0.5)</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1672" cy="914400"/>
        </p:xfrm>
        <a:graphic>
          <a:graphicData uri="http://schemas.openxmlformats.org/drawingml/2006/table">
            <a:tbl>
              <a:tblPr/>
              <a:tblGrid>
                <a:gridCol w="21945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3346704">
                  <a:extLst>
                    <a:ext uri="{9D8B030D-6E8A-4147-A177-3AD203B41FA5}">
                      <a16:colId xmlns:a16="http://schemas.microsoft.com/office/drawing/2014/main" val="20002"/>
                    </a:ext>
                  </a:extLst>
                </a:gridCol>
                <a:gridCol w="3355848">
                  <a:extLst>
                    <a:ext uri="{9D8B030D-6E8A-4147-A177-3AD203B41FA5}">
                      <a16:colId xmlns:a16="http://schemas.microsoft.com/office/drawing/2014/main" val="20003"/>
                    </a:ext>
                  </a:extLst>
                </a:gridCol>
              </a:tblGrid>
              <a:tr h="0">
                <a:tc>
                  <a:txBody>
                    <a:bodyPr/>
                    <a:lstStyle/>
                    <a:p>
                      <a:pPr marL="0" indent="0" algn="ctr">
                        <a:buNone/>
                      </a:pPr>
                      <a:r>
                        <a:rPr lang="en-US" sz="1600" b="1" dirty="0">
                          <a:solidFill>
                            <a:srgbClr val="000000"/>
                          </a:solidFill>
                          <a:latin typeface="Arial" pitchFamily="34" charset="0"/>
                          <a:ea typeface="Arial" pitchFamily="34" charset="-122"/>
                          <a:cs typeface="Arial" pitchFamily="34" charset="-120"/>
                        </a:rPr>
                        <a:t>Vehicle</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D9D9D9"/>
                    </a:solidFill>
                  </a:tcPr>
                </a:tc>
                <a:tc>
                  <a:txBody>
                    <a:bodyPr/>
                    <a:lstStyle/>
                    <a:p>
                      <a:pPr marL="0" indent="0" algn="ctr">
                        <a:buNone/>
                      </a:pPr>
                      <a:r>
                        <a:rPr lang="en-US" sz="1600" b="1" dirty="0">
                          <a:solidFill>
                            <a:srgbClr val="000000"/>
                          </a:solidFill>
                          <a:latin typeface="Arial" pitchFamily="34" charset="0"/>
                          <a:ea typeface="Arial" pitchFamily="34" charset="-122"/>
                          <a:cs typeface="Arial" pitchFamily="34" charset="-120"/>
                        </a:rPr>
                        <a:t>Alone</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D9D9D9"/>
                    </a:solidFill>
                  </a:tcPr>
                </a:tc>
                <a:tc>
                  <a:txBody>
                    <a:bodyPr/>
                    <a:lstStyle/>
                    <a:p>
                      <a:pPr marL="0" indent="0" algn="ctr">
                        <a:buNone/>
                      </a:pPr>
                      <a:r>
                        <a:rPr lang="en-US" sz="1600" b="1" dirty="0">
                          <a:solidFill>
                            <a:srgbClr val="000000"/>
                          </a:solidFill>
                          <a:latin typeface="Arial" pitchFamily="34" charset="0"/>
                          <a:ea typeface="Arial" pitchFamily="34" charset="-122"/>
                          <a:cs typeface="Arial" pitchFamily="34" charset="-120"/>
                        </a:rPr>
                        <a:t>V2VNet</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D9D9D9"/>
                    </a:solidFill>
                  </a:tcPr>
                </a:tc>
                <a:tc>
                  <a:txBody>
                    <a:bodyPr/>
                    <a:lstStyle/>
                    <a:p>
                      <a:pPr marL="0" indent="0" algn="ctr">
                        <a:buNone/>
                      </a:pPr>
                      <a:r>
                        <a:rPr lang="en-US" sz="1600" b="1" dirty="0">
                          <a:solidFill>
                            <a:srgbClr val="000000"/>
                          </a:solidFill>
                          <a:latin typeface="Arial" pitchFamily="34" charset="0"/>
                          <a:ea typeface="Arial" pitchFamily="34" charset="-122"/>
                          <a:cs typeface="Arial" pitchFamily="34" charset="-120"/>
                        </a:rPr>
                        <a:t>when2com</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0">
                <a:tc>
                  <a:txBody>
                    <a:bodyPr/>
                    <a:lstStyle/>
                    <a:p>
                      <a:pPr marL="0" indent="0" algn="l">
                        <a:buNone/>
                      </a:pPr>
                      <a:r>
                        <a:rPr lang="en-US" sz="1600" dirty="0">
                          <a:solidFill>
                            <a:srgbClr val="000000"/>
                          </a:solidFill>
                          <a:latin typeface="Arial" pitchFamily="34" charset="0"/>
                          <a:ea typeface="Arial" pitchFamily="34" charset="-122"/>
                          <a:cs typeface="Arial" pitchFamily="34" charset="-120"/>
                        </a:rPr>
                        <a:t>Agent 1</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0.545</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0.750 (+0.204)</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0.535 (-0.010)</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600" dirty="0">
                          <a:solidFill>
                            <a:srgbClr val="000000"/>
                          </a:solidFill>
                          <a:latin typeface="Arial" pitchFamily="34" charset="0"/>
                          <a:ea typeface="Arial" pitchFamily="34" charset="-122"/>
                          <a:cs typeface="Arial" pitchFamily="34" charset="-120"/>
                        </a:rPr>
                        <a:t>Agent 2</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0.700</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0.868 (+0.168)</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0.677 (-0.023)</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0">
                <a:tc>
                  <a:txBody>
                    <a:bodyPr/>
                    <a:lstStyle/>
                    <a:p>
                      <a:pPr marL="0" indent="0" algn="l">
                        <a:buNone/>
                      </a:pPr>
                      <a:r>
                        <a:rPr lang="en-US" sz="1600" dirty="0">
                          <a:solidFill>
                            <a:srgbClr val="000000"/>
                          </a:solidFill>
                          <a:latin typeface="Arial" pitchFamily="34" charset="0"/>
                          <a:ea typeface="Arial" pitchFamily="34" charset="-122"/>
                          <a:cs typeface="Arial" pitchFamily="34" charset="-120"/>
                        </a:rPr>
                        <a:t>Agent 3</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0.626</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0.789 (+0.162)</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0.487 (-0.139)</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600" dirty="0">
                          <a:solidFill>
                            <a:srgbClr val="000000"/>
                          </a:solidFill>
                          <a:latin typeface="Arial" pitchFamily="34" charset="0"/>
                          <a:ea typeface="Arial" pitchFamily="34" charset="-122"/>
                          <a:cs typeface="Arial" pitchFamily="34" charset="-120"/>
                        </a:rPr>
                        <a:t>Agent 4</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0.335</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0.589 (+0.254)</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0.278 (-0.057)</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0">
                <a:tc>
                  <a:txBody>
                    <a:bodyPr/>
                    <a:lstStyle/>
                    <a:p>
                      <a:pPr marL="0" indent="0" algn="l">
                        <a:buNone/>
                      </a:pPr>
                      <a:r>
                        <a:rPr lang="en-US" sz="1600" dirty="0">
                          <a:solidFill>
                            <a:srgbClr val="000000"/>
                          </a:solidFill>
                          <a:latin typeface="Arial" pitchFamily="34" charset="0"/>
                          <a:ea typeface="Arial" pitchFamily="34" charset="-122"/>
                          <a:cs typeface="Arial" pitchFamily="34" charset="-120"/>
                        </a:rPr>
                        <a:t>Agent 5</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0.505</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0.759 (+0.253)</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0.473 (-0.033)</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600" dirty="0">
                          <a:solidFill>
                            <a:srgbClr val="000000"/>
                          </a:solidFill>
                          <a:latin typeface="Arial" pitchFamily="34" charset="0"/>
                          <a:ea typeface="Arial" pitchFamily="34" charset="-122"/>
                          <a:cs typeface="Arial" pitchFamily="34" charset="-120"/>
                        </a:rPr>
                        <a:t>Average</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0.554</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0.753 (+0.199)</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0.501 (-0.053)</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bl>
          </a:graphicData>
        </a:graphic>
      </p:graphicFrame>
      <p:sp>
        <p:nvSpPr>
          <p:cNvPr id="4" name="Text 1"/>
          <p:cNvSpPr txBox="1"/>
          <p:nvPr/>
        </p:nvSpPr>
        <p:spPr>
          <a:xfrm>
            <a:off x="548640" y="4343400"/>
            <a:ext cx="11091672" cy="331470"/>
          </a:xfrm>
          <a:prstGeom prst="rect">
            <a:avLst/>
          </a:prstGeom>
          <a:noFill/>
          <a:ln/>
        </p:spPr>
        <p:txBody>
          <a:bodyPr wrap="square" lIns="0" tIns="0" rIns="0" bIns="0" rtlCol="0" anchor="t"/>
          <a:lstStyle/>
          <a:p>
            <a:pPr marL="228600" indent="-228600">
              <a:buSzPct val="100000"/>
              <a:buChar char="•"/>
            </a:pPr>
            <a:r>
              <a:rPr lang="en-US" sz="1800" dirty="0">
                <a:solidFill>
                  <a:srgbClr val="000000"/>
                </a:solidFill>
                <a:latin typeface="Arial" pitchFamily="34" charset="0"/>
                <a:ea typeface="Arial" pitchFamily="34" charset="-122"/>
                <a:cs typeface="Arial" pitchFamily="34" charset="-120"/>
              </a:rPr>
              <a:t>V2VNet helps every vehicle. The vehicle with the worst view (agent 4) gains the most.</a:t>
            </a:r>
            <a:endParaRPr lang="en-US" sz="1800" dirty="0"/>
          </a:p>
        </p:txBody>
      </p:sp>
      <p:sp>
        <p:nvSpPr>
          <p:cNvPr id="5" name="Text 2"/>
          <p:cNvSpPr txBox="1"/>
          <p:nvPr/>
        </p:nvSpPr>
        <p:spPr>
          <a:xfrm>
            <a:off x="548640" y="4839462"/>
            <a:ext cx="11091672" cy="331470"/>
          </a:xfrm>
          <a:prstGeom prst="rect">
            <a:avLst/>
          </a:prstGeom>
          <a:noFill/>
          <a:ln/>
        </p:spPr>
        <p:txBody>
          <a:bodyPr wrap="square" lIns="0" tIns="0" rIns="0" bIns="0" rtlCol="0" anchor="t"/>
          <a:lstStyle/>
          <a:p>
            <a:pPr marL="228600" indent="-228600">
              <a:buSzPct val="100000"/>
              <a:buChar char="•"/>
            </a:pPr>
            <a:r>
              <a:rPr lang="en-US" sz="1800" dirty="0">
                <a:solidFill>
                  <a:srgbClr val="000000"/>
                </a:solidFill>
                <a:latin typeface="Arial" pitchFamily="34" charset="0"/>
                <a:ea typeface="Arial" pitchFamily="34" charset="-122"/>
                <a:cs typeface="Arial" pitchFamily="34" charset="-120"/>
              </a:rPr>
              <a:t>when2com is below the baseline for every vehicle, so this is consistent, not a one-off.</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95959"/>
                </a:solidFill>
                <a:latin typeface="Arial"/>
                <a:ea typeface="Arial"/>
                <a:cs typeface="Aria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1672" cy="731520"/>
          </a:xfrm>
          <a:prstGeom prst="rect">
            <a:avLst/>
          </a:prstGeom>
          <a:noFill/>
          <a:ln/>
        </p:spPr>
        <p:txBody>
          <a:bodyPr wrap="square" lIns="0" tIns="0" rIns="0" bIns="0" rtlCol="0" anchor="ctr"/>
          <a:lstStyle/>
          <a:p>
            <a:pPr marL="0" indent="0">
              <a:buNone/>
            </a:pPr>
            <a:r>
              <a:rPr lang="en-US" sz="3200" b="1" dirty="0">
                <a:solidFill>
                  <a:srgbClr val="000000"/>
                </a:solidFill>
                <a:latin typeface="Arial" pitchFamily="34" charset="0"/>
                <a:ea typeface="Arial" pitchFamily="34" charset="-122"/>
                <a:cs typeface="Arial" pitchFamily="34" charset="-120"/>
              </a:rPr>
              <a:t>What It Looks Like: Scene 19</a:t>
            </a:r>
            <a:endParaRPr lang="en-US" sz="3200" dirty="0"/>
          </a:p>
        </p:txBody>
      </p:sp>
      <p:pic>
        <p:nvPicPr>
          <p:cNvPr id="3" name="Image 0" descr="scene19.png"/>
          <p:cNvPicPr>
            <a:picLocks noChangeAspect="1"/>
          </p:cNvPicPr>
          <p:nvPr/>
        </p:nvPicPr>
        <p:blipFill>
          <a:blip r:embed="rId3"/>
          <a:stretch>
            <a:fillRect/>
          </a:stretch>
        </p:blipFill>
        <p:spPr>
          <a:xfrm>
            <a:off x="1252728" y="1143000"/>
            <a:ext cx="9692640" cy="5239265"/>
          </a:xfrm>
          <a:prstGeom prst="rect">
            <a:avLst/>
          </a:prstGeom>
        </p:spPr>
      </p:pic>
      <p:sp>
        <p:nvSpPr>
          <p:cNvPr id="4" name="Text 1"/>
          <p:cNvSpPr txBox="1"/>
          <p:nvPr/>
        </p:nvSpPr>
        <p:spPr>
          <a:xfrm>
            <a:off x="548640" y="6400800"/>
            <a:ext cx="11091672" cy="320040"/>
          </a:xfrm>
          <a:prstGeom prst="rect">
            <a:avLst/>
          </a:prstGeom>
          <a:noFill/>
          <a:ln/>
        </p:spPr>
        <p:txBody>
          <a:bodyPr wrap="square" lIns="0" tIns="0" rIns="0" bIns="0" rtlCol="0" anchor="t"/>
          <a:lstStyle/>
          <a:p>
            <a:pPr marL="0" indent="0" algn="ctr">
              <a:buNone/>
            </a:pPr>
            <a:r>
              <a:rPr lang="en-US" sz="1200" i="1" dirty="0">
                <a:solidFill>
                  <a:srgbClr val="000000"/>
                </a:solidFill>
                <a:latin typeface="Arial" pitchFamily="34" charset="0"/>
                <a:ea typeface="Arial" pitchFamily="34" charset="-122"/>
                <a:cs typeface="Arial" pitchFamily="34" charset="-120"/>
              </a:rPr>
              <a:t>Figure 1. Agent 4, scene 19 (4 vehicles), frames 0 and 50. Green boxes are ground truth, red boxes are detections.</a:t>
            </a:r>
            <a:endParaRPr lang="en-US" sz="1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95959"/>
                </a:solidFill>
                <a:latin typeface="Arial"/>
                <a:ea typeface="Arial"/>
                <a:cs typeface="Aria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1672" cy="731520"/>
          </a:xfrm>
          <a:prstGeom prst="rect">
            <a:avLst/>
          </a:prstGeom>
          <a:noFill/>
          <a:ln/>
        </p:spPr>
        <p:txBody>
          <a:bodyPr wrap="square" lIns="0" tIns="0" rIns="0" bIns="0" rtlCol="0" anchor="ctr"/>
          <a:lstStyle/>
          <a:p>
            <a:pPr marL="0" indent="0">
              <a:buNone/>
            </a:pPr>
            <a:r>
              <a:rPr lang="en-US" sz="3200" b="1" dirty="0">
                <a:solidFill>
                  <a:srgbClr val="000000"/>
                </a:solidFill>
                <a:latin typeface="Arial" pitchFamily="34" charset="0"/>
                <a:ea typeface="Arial" pitchFamily="34" charset="-122"/>
                <a:cs typeface="Arial" pitchFamily="34" charset="-120"/>
              </a:rPr>
              <a:t>Scene 19: What the Picture Shows</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91672" cy="914400"/>
        </p:xfrm>
        <a:graphic>
          <a:graphicData uri="http://schemas.openxmlformats.org/drawingml/2006/table">
            <a:tbl>
              <a:tblPr/>
              <a:tblGrid>
                <a:gridCol w="365760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gridCol w="2496312">
                  <a:extLst>
                    <a:ext uri="{9D8B030D-6E8A-4147-A177-3AD203B41FA5}">
                      <a16:colId xmlns:a16="http://schemas.microsoft.com/office/drawing/2014/main" val="20003"/>
                    </a:ext>
                  </a:extLst>
                </a:gridCol>
              </a:tblGrid>
              <a:tr h="0">
                <a:tc>
                  <a:txBody>
                    <a:bodyPr/>
                    <a:lstStyle/>
                    <a:p>
                      <a:pPr marL="0" indent="0" algn="ctr">
                        <a:buNone/>
                      </a:pPr>
                      <a:r>
                        <a:rPr lang="en-US" sz="1600" b="1" dirty="0">
                          <a:solidFill>
                            <a:srgbClr val="000000"/>
                          </a:solidFill>
                          <a:latin typeface="Arial" pitchFamily="34" charset="0"/>
                          <a:ea typeface="Arial" pitchFamily="34" charset="-122"/>
                          <a:cs typeface="Arial" pitchFamily="34" charset="-120"/>
                        </a:rPr>
                        <a:t>Cars found (by eye, incl. our car)</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D9D9D9"/>
                    </a:solidFill>
                  </a:tcPr>
                </a:tc>
                <a:tc>
                  <a:txBody>
                    <a:bodyPr/>
                    <a:lstStyle/>
                    <a:p>
                      <a:pPr marL="0" indent="0" algn="ctr">
                        <a:buNone/>
                      </a:pPr>
                      <a:r>
                        <a:rPr lang="en-US" sz="1600" b="1" dirty="0">
                          <a:solidFill>
                            <a:srgbClr val="000000"/>
                          </a:solidFill>
                          <a:latin typeface="Arial" pitchFamily="34" charset="0"/>
                          <a:ea typeface="Arial" pitchFamily="34" charset="-122"/>
                          <a:cs typeface="Arial" pitchFamily="34" charset="-120"/>
                        </a:rPr>
                        <a:t>Alone</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D9D9D9"/>
                    </a:solidFill>
                  </a:tcPr>
                </a:tc>
                <a:tc>
                  <a:txBody>
                    <a:bodyPr/>
                    <a:lstStyle/>
                    <a:p>
                      <a:pPr marL="0" indent="0" algn="ctr">
                        <a:buNone/>
                      </a:pPr>
                      <a:r>
                        <a:rPr lang="en-US" sz="1600" b="1" dirty="0">
                          <a:solidFill>
                            <a:srgbClr val="000000"/>
                          </a:solidFill>
                          <a:latin typeface="Arial" pitchFamily="34" charset="0"/>
                          <a:ea typeface="Arial" pitchFamily="34" charset="-122"/>
                          <a:cs typeface="Arial" pitchFamily="34" charset="-120"/>
                        </a:rPr>
                        <a:t>V2VNet</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D9D9D9"/>
                    </a:solidFill>
                  </a:tcPr>
                </a:tc>
                <a:tc>
                  <a:txBody>
                    <a:bodyPr/>
                    <a:lstStyle/>
                    <a:p>
                      <a:pPr marL="0" indent="0" algn="ctr">
                        <a:buNone/>
                      </a:pPr>
                      <a:r>
                        <a:rPr lang="en-US" sz="1600" b="1" dirty="0">
                          <a:solidFill>
                            <a:srgbClr val="000000"/>
                          </a:solidFill>
                          <a:latin typeface="Arial" pitchFamily="34" charset="0"/>
                          <a:ea typeface="Arial" pitchFamily="34" charset="-122"/>
                          <a:cs typeface="Arial" pitchFamily="34" charset="-120"/>
                        </a:rPr>
                        <a:t>when2com</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0">
                <a:tc>
                  <a:txBody>
                    <a:bodyPr/>
                    <a:lstStyle/>
                    <a:p>
                      <a:pPr marL="0" indent="0" algn="l">
                        <a:buNone/>
                      </a:pPr>
                      <a:r>
                        <a:rPr lang="en-US" sz="1600" dirty="0">
                          <a:solidFill>
                            <a:srgbClr val="000000"/>
                          </a:solidFill>
                          <a:latin typeface="Arial" pitchFamily="34" charset="0"/>
                          <a:ea typeface="Arial" pitchFamily="34" charset="-122"/>
                          <a:cs typeface="Arial" pitchFamily="34" charset="-120"/>
                        </a:rPr>
                        <a:t>Frame 0 (14 cars)</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5</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8</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4</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600" dirty="0">
                          <a:solidFill>
                            <a:srgbClr val="000000"/>
                          </a:solidFill>
                          <a:latin typeface="Arial" pitchFamily="34" charset="0"/>
                          <a:ea typeface="Arial" pitchFamily="34" charset="-122"/>
                          <a:cs typeface="Arial" pitchFamily="34" charset="-120"/>
                        </a:rPr>
                        <a:t>Frame 50 (14 cars)</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5 (+1 false alarm)</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9 (+1 false alarm)</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3</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bl>
          </a:graphicData>
        </a:graphic>
      </p:graphicFrame>
      <p:sp>
        <p:nvSpPr>
          <p:cNvPr id="4" name="Text 1"/>
          <p:cNvSpPr txBox="1"/>
          <p:nvPr/>
        </p:nvSpPr>
        <p:spPr>
          <a:xfrm>
            <a:off x="548640" y="2514600"/>
            <a:ext cx="11091672" cy="617220"/>
          </a:xfrm>
          <a:prstGeom prst="rect">
            <a:avLst/>
          </a:prstGeom>
          <a:noFill/>
          <a:ln/>
        </p:spPr>
        <p:txBody>
          <a:bodyPr wrap="square" lIns="0" tIns="0" rIns="0" bIns="0" rtlCol="0" anchor="t"/>
          <a:lstStyle/>
          <a:p>
            <a:pPr marL="228600" indent="-228600">
              <a:buSzPct val="100000"/>
              <a:buChar char="•"/>
            </a:pPr>
            <a:r>
              <a:rPr lang="en-US" sz="1800" b="1" dirty="0">
                <a:solidFill>
                  <a:srgbClr val="000000"/>
                </a:solidFill>
                <a:latin typeface="Arial" pitchFamily="34" charset="0"/>
                <a:ea typeface="Arial" pitchFamily="34" charset="-122"/>
                <a:cs typeface="Arial" pitchFamily="34" charset="-120"/>
              </a:rPr>
              <a:t>Our own car is one of the 14. </a:t>
            </a:r>
            <a:r>
              <a:rPr lang="en-US" sz="1800" dirty="0">
                <a:solidFill>
                  <a:srgbClr val="000000"/>
                </a:solidFill>
                <a:latin typeface="Arial" pitchFamily="34" charset="0"/>
                <a:ea typeface="Arial" pitchFamily="34" charset="-122"/>
                <a:cs typeface="Arial" pitchFamily="34" charset="-120"/>
              </a:rPr>
              <a:t>The box at the centre of the rings is agent 4's own vehicle. All three models find it every time, and they also find the cars on the road right beside it.</a:t>
            </a:r>
            <a:endParaRPr lang="en-US" sz="1800" dirty="0"/>
          </a:p>
        </p:txBody>
      </p:sp>
      <p:sp>
        <p:nvSpPr>
          <p:cNvPr id="5" name="Text 2"/>
          <p:cNvSpPr txBox="1"/>
          <p:nvPr/>
        </p:nvSpPr>
        <p:spPr>
          <a:xfrm>
            <a:off x="548640" y="3296412"/>
            <a:ext cx="11091672" cy="617220"/>
          </a:xfrm>
          <a:prstGeom prst="rect">
            <a:avLst/>
          </a:prstGeom>
          <a:noFill/>
          <a:ln/>
        </p:spPr>
        <p:txBody>
          <a:bodyPr wrap="square" lIns="0" tIns="0" rIns="0" bIns="0" rtlCol="0" anchor="t"/>
          <a:lstStyle/>
          <a:p>
            <a:pPr marL="228600" indent="-228600">
              <a:buSzPct val="100000"/>
              <a:buChar char="•"/>
            </a:pPr>
            <a:r>
              <a:rPr lang="en-US" sz="1800" b="1" dirty="0">
                <a:solidFill>
                  <a:srgbClr val="000000"/>
                </a:solidFill>
                <a:latin typeface="Arial" pitchFamily="34" charset="0"/>
                <a:ea typeface="Arial" pitchFamily="34" charset="-122"/>
                <a:cs typeface="Arial" pitchFamily="34" charset="-120"/>
              </a:rPr>
              <a:t>Far, hidden cars are where cooperation helps. </a:t>
            </a:r>
            <a:r>
              <a:rPr lang="en-US" sz="1800" dirty="0">
                <a:solidFill>
                  <a:srgbClr val="000000"/>
                </a:solidFill>
                <a:latin typeface="Arial" pitchFamily="34" charset="0"/>
                <a:ea typeface="Arial" pitchFamily="34" charset="-122"/>
                <a:cs typeface="Arial" pitchFamily="34" charset="-120"/>
              </a:rPr>
              <a:t>Alone, agent 4 finds none of the parked cars on the left. V2VNet finds three of them using the other vehicles' data.</a:t>
            </a:r>
            <a:endParaRPr lang="en-US" sz="1800" dirty="0"/>
          </a:p>
        </p:txBody>
      </p:sp>
      <p:sp>
        <p:nvSpPr>
          <p:cNvPr id="6" name="Text 3"/>
          <p:cNvSpPr txBox="1"/>
          <p:nvPr/>
        </p:nvSpPr>
        <p:spPr>
          <a:xfrm>
            <a:off x="548640" y="4078224"/>
            <a:ext cx="11091672" cy="617220"/>
          </a:xfrm>
          <a:prstGeom prst="rect">
            <a:avLst/>
          </a:prstGeom>
          <a:noFill/>
          <a:ln/>
        </p:spPr>
        <p:txBody>
          <a:bodyPr wrap="square" lIns="0" tIns="0" rIns="0" bIns="0" rtlCol="0" anchor="t"/>
          <a:lstStyle/>
          <a:p>
            <a:pPr marL="228600" indent="-228600">
              <a:buSzPct val="100000"/>
              <a:buChar char="•"/>
            </a:pPr>
            <a:r>
              <a:rPr lang="en-US" sz="1800" b="1" dirty="0">
                <a:solidFill>
                  <a:srgbClr val="000000"/>
                </a:solidFill>
                <a:latin typeface="Arial" pitchFamily="34" charset="0"/>
                <a:ea typeface="Arial" pitchFamily="34" charset="-122"/>
                <a:cs typeface="Arial" pitchFamily="34" charset="-120"/>
              </a:rPr>
              <a:t>when2com does worse than alone. </a:t>
            </a:r>
            <a:r>
              <a:rPr lang="en-US" sz="1800" dirty="0">
                <a:solidFill>
                  <a:srgbClr val="000000"/>
                </a:solidFill>
                <a:latin typeface="Arial" pitchFamily="34" charset="0"/>
                <a:ea typeface="Arial" pitchFamily="34" charset="-122"/>
                <a:cs typeface="Arial" pitchFamily="34" charset="-120"/>
              </a:rPr>
              <a:t>It finds none of the parked cars and misses the lower left car the others find.</a:t>
            </a:r>
            <a:endParaRPr lang="en-US" sz="1800" dirty="0"/>
          </a:p>
        </p:txBody>
      </p:sp>
      <p:sp>
        <p:nvSpPr>
          <p:cNvPr id="7" name="Text 4"/>
          <p:cNvSpPr txBox="1"/>
          <p:nvPr/>
        </p:nvSpPr>
        <p:spPr>
          <a:xfrm>
            <a:off x="548640" y="4860036"/>
            <a:ext cx="11091672" cy="617220"/>
          </a:xfrm>
          <a:prstGeom prst="rect">
            <a:avLst/>
          </a:prstGeom>
          <a:noFill/>
          <a:ln/>
        </p:spPr>
        <p:txBody>
          <a:bodyPr wrap="square" lIns="0" tIns="0" rIns="0" bIns="0" rtlCol="0" anchor="t"/>
          <a:lstStyle/>
          <a:p>
            <a:pPr marL="228600" indent="-228600">
              <a:buSzPct val="100000"/>
              <a:buChar char="•"/>
            </a:pPr>
            <a:r>
              <a:rPr lang="en-US" sz="1800" b="1" dirty="0">
                <a:solidFill>
                  <a:srgbClr val="000000"/>
                </a:solidFill>
                <a:latin typeface="Arial" pitchFamily="34" charset="0"/>
                <a:ea typeface="Arial" pitchFamily="34" charset="-122"/>
                <a:cs typeface="Arial" pitchFamily="34" charset="-120"/>
              </a:rPr>
              <a:t>Not perfect. </a:t>
            </a:r>
            <a:r>
              <a:rPr lang="en-US" sz="1800" dirty="0">
                <a:solidFill>
                  <a:srgbClr val="000000"/>
                </a:solidFill>
                <a:latin typeface="Arial" pitchFamily="34" charset="0"/>
                <a:ea typeface="Arial" pitchFamily="34" charset="-122"/>
                <a:cs typeface="Arial" pitchFamily="34" charset="-120"/>
              </a:rPr>
              <a:t>In frame 50, the vehicle alone and V2VNet each show one false alarm. Cars at the far right are missed by all.</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95959"/>
                </a:solidFill>
                <a:latin typeface="Arial"/>
                <a:ea typeface="Arial"/>
                <a:cs typeface="Aria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1672" cy="731520"/>
          </a:xfrm>
          <a:prstGeom prst="rect">
            <a:avLst/>
          </a:prstGeom>
          <a:noFill/>
          <a:ln/>
        </p:spPr>
        <p:txBody>
          <a:bodyPr wrap="square" lIns="0" tIns="0" rIns="0" bIns="0" rtlCol="0" anchor="ctr"/>
          <a:lstStyle/>
          <a:p>
            <a:pPr marL="0" indent="0">
              <a:buNone/>
            </a:pPr>
            <a:r>
              <a:rPr lang="en-US" sz="3200" b="1" dirty="0">
                <a:solidFill>
                  <a:srgbClr val="000000"/>
                </a:solidFill>
                <a:latin typeface="Arial" pitchFamily="34" charset="0"/>
                <a:ea typeface="Arial" pitchFamily="34" charset="-122"/>
                <a:cs typeface="Arial" pitchFamily="34" charset="-120"/>
              </a:rPr>
              <a:t>What It Looks Like: Scene 8</a:t>
            </a:r>
            <a:endParaRPr lang="en-US" sz="3200" dirty="0"/>
          </a:p>
        </p:txBody>
      </p:sp>
      <p:pic>
        <p:nvPicPr>
          <p:cNvPr id="3" name="Image 0" descr="scene8.png"/>
          <p:cNvPicPr>
            <a:picLocks noChangeAspect="1"/>
          </p:cNvPicPr>
          <p:nvPr/>
        </p:nvPicPr>
        <p:blipFill>
          <a:blip r:embed="rId3"/>
          <a:stretch>
            <a:fillRect/>
          </a:stretch>
        </p:blipFill>
        <p:spPr>
          <a:xfrm>
            <a:off x="2011680" y="1097280"/>
            <a:ext cx="8165592" cy="4399565"/>
          </a:xfrm>
          <a:prstGeom prst="rect">
            <a:avLst/>
          </a:prstGeom>
        </p:spPr>
      </p:pic>
      <p:sp>
        <p:nvSpPr>
          <p:cNvPr id="4" name="Text 1"/>
          <p:cNvSpPr txBox="1"/>
          <p:nvPr/>
        </p:nvSpPr>
        <p:spPr>
          <a:xfrm>
            <a:off x="548640" y="5532120"/>
            <a:ext cx="11091672" cy="274320"/>
          </a:xfrm>
          <a:prstGeom prst="rect">
            <a:avLst/>
          </a:prstGeom>
          <a:noFill/>
          <a:ln/>
        </p:spPr>
        <p:txBody>
          <a:bodyPr wrap="square" lIns="0" tIns="0" rIns="0" bIns="0" rtlCol="0" anchor="t"/>
          <a:lstStyle/>
          <a:p>
            <a:pPr marL="0" indent="0" algn="ctr">
              <a:buNone/>
            </a:pPr>
            <a:r>
              <a:rPr lang="en-US" sz="1200" i="1" dirty="0">
                <a:solidFill>
                  <a:srgbClr val="000000"/>
                </a:solidFill>
                <a:latin typeface="Arial" pitchFamily="34" charset="0"/>
                <a:ea typeface="Arial" pitchFamily="34" charset="-122"/>
                <a:cs typeface="Arial" pitchFamily="34" charset="-120"/>
              </a:rPr>
              <a:t>Figure 2. Agent 4, scene 8 (all 5 vehicles), frames 0 and 50. Green boxes are ground truth, red boxes are detections.</a:t>
            </a:r>
            <a:endParaRPr lang="en-US" sz="1200" dirty="0"/>
          </a:p>
        </p:txBody>
      </p:sp>
      <p:sp>
        <p:nvSpPr>
          <p:cNvPr id="5" name="Text 2"/>
          <p:cNvSpPr txBox="1"/>
          <p:nvPr/>
        </p:nvSpPr>
        <p:spPr>
          <a:xfrm>
            <a:off x="548640" y="5897880"/>
            <a:ext cx="11091672" cy="548640"/>
          </a:xfrm>
          <a:prstGeom prst="rect">
            <a:avLst/>
          </a:prstGeom>
          <a:noFill/>
          <a:ln/>
        </p:spPr>
        <p:txBody>
          <a:bodyPr wrap="square" lIns="0" tIns="0" rIns="0" bIns="0" rtlCol="0" anchor="t"/>
          <a:lstStyle/>
          <a:p>
            <a:pPr marL="0" indent="0">
              <a:buNone/>
            </a:pPr>
            <a:r>
              <a:rPr lang="en-US" sz="1600" dirty="0">
                <a:solidFill>
                  <a:srgbClr val="000000"/>
                </a:solidFill>
                <a:latin typeface="Arial" pitchFamily="34" charset="0"/>
                <a:ea typeface="Arial" pitchFamily="34" charset="-122"/>
                <a:cs typeface="Arial" pitchFamily="34" charset="-120"/>
              </a:rPr>
              <a:t>The vehicle is at the centre of the rings, and its own box is the second one in the row of four. Alone, it misses far-away cars. V2VNet finds them using the other vehicles' data. when2com finds fewer.</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95959"/>
                </a:solidFill>
                <a:latin typeface="Arial"/>
                <a:ea typeface="Arial"/>
                <a:cs typeface="Aria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1672" cy="731520"/>
          </a:xfrm>
          <a:prstGeom prst="rect">
            <a:avLst/>
          </a:prstGeom>
          <a:noFill/>
          <a:ln/>
        </p:spPr>
        <p:txBody>
          <a:bodyPr wrap="square" lIns="0" tIns="0" rIns="0" bIns="0" rtlCol="0" anchor="ctr"/>
          <a:lstStyle/>
          <a:p>
            <a:pPr marL="0" indent="0">
              <a:buNone/>
            </a:pPr>
            <a:r>
              <a:rPr lang="en-US" sz="3200" b="1" dirty="0">
                <a:solidFill>
                  <a:srgbClr val="000000"/>
                </a:solidFill>
                <a:latin typeface="Arial" pitchFamily="34" charset="0"/>
                <a:ea typeface="Arial" pitchFamily="34" charset="-122"/>
                <a:cs typeface="Arial" pitchFamily="34" charset="-120"/>
              </a:rPr>
              <a:t>Scene 8: What the Picture Shows</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91672" cy="914400"/>
        </p:xfrm>
        <a:graphic>
          <a:graphicData uri="http://schemas.openxmlformats.org/drawingml/2006/table">
            <a:tbl>
              <a:tblPr/>
              <a:tblGrid>
                <a:gridCol w="365760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gridCol w="2496312">
                  <a:extLst>
                    <a:ext uri="{9D8B030D-6E8A-4147-A177-3AD203B41FA5}">
                      <a16:colId xmlns:a16="http://schemas.microsoft.com/office/drawing/2014/main" val="20003"/>
                    </a:ext>
                  </a:extLst>
                </a:gridCol>
              </a:tblGrid>
              <a:tr h="0">
                <a:tc>
                  <a:txBody>
                    <a:bodyPr/>
                    <a:lstStyle/>
                    <a:p>
                      <a:pPr marL="0" indent="0" algn="ctr">
                        <a:buNone/>
                      </a:pPr>
                      <a:r>
                        <a:rPr lang="en-US" sz="1600" b="1" dirty="0">
                          <a:solidFill>
                            <a:srgbClr val="000000"/>
                          </a:solidFill>
                          <a:latin typeface="Arial" pitchFamily="34" charset="0"/>
                          <a:ea typeface="Arial" pitchFamily="34" charset="-122"/>
                          <a:cs typeface="Arial" pitchFamily="34" charset="-120"/>
                        </a:rPr>
                        <a:t>Cars found (by eye, incl. our car)</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D9D9D9"/>
                    </a:solidFill>
                  </a:tcPr>
                </a:tc>
                <a:tc>
                  <a:txBody>
                    <a:bodyPr/>
                    <a:lstStyle/>
                    <a:p>
                      <a:pPr marL="0" indent="0" algn="ctr">
                        <a:buNone/>
                      </a:pPr>
                      <a:r>
                        <a:rPr lang="en-US" sz="1600" b="1" dirty="0">
                          <a:solidFill>
                            <a:srgbClr val="000000"/>
                          </a:solidFill>
                          <a:latin typeface="Arial" pitchFamily="34" charset="0"/>
                          <a:ea typeface="Arial" pitchFamily="34" charset="-122"/>
                          <a:cs typeface="Arial" pitchFamily="34" charset="-120"/>
                        </a:rPr>
                        <a:t>Alone</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D9D9D9"/>
                    </a:solidFill>
                  </a:tcPr>
                </a:tc>
                <a:tc>
                  <a:txBody>
                    <a:bodyPr/>
                    <a:lstStyle/>
                    <a:p>
                      <a:pPr marL="0" indent="0" algn="ctr">
                        <a:buNone/>
                      </a:pPr>
                      <a:r>
                        <a:rPr lang="en-US" sz="1600" b="1" dirty="0">
                          <a:solidFill>
                            <a:srgbClr val="000000"/>
                          </a:solidFill>
                          <a:latin typeface="Arial" pitchFamily="34" charset="0"/>
                          <a:ea typeface="Arial" pitchFamily="34" charset="-122"/>
                          <a:cs typeface="Arial" pitchFamily="34" charset="-120"/>
                        </a:rPr>
                        <a:t>V2VNet</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D9D9D9"/>
                    </a:solidFill>
                  </a:tcPr>
                </a:tc>
                <a:tc>
                  <a:txBody>
                    <a:bodyPr/>
                    <a:lstStyle/>
                    <a:p>
                      <a:pPr marL="0" indent="0" algn="ctr">
                        <a:buNone/>
                      </a:pPr>
                      <a:r>
                        <a:rPr lang="en-US" sz="1600" b="1" dirty="0">
                          <a:solidFill>
                            <a:srgbClr val="000000"/>
                          </a:solidFill>
                          <a:latin typeface="Arial" pitchFamily="34" charset="0"/>
                          <a:ea typeface="Arial" pitchFamily="34" charset="-122"/>
                          <a:cs typeface="Arial" pitchFamily="34" charset="-120"/>
                        </a:rPr>
                        <a:t>when2com</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0">
                <a:tc>
                  <a:txBody>
                    <a:bodyPr/>
                    <a:lstStyle/>
                    <a:p>
                      <a:pPr marL="0" indent="0" algn="l">
                        <a:buNone/>
                      </a:pPr>
                      <a:r>
                        <a:rPr lang="en-US" sz="1600" dirty="0">
                          <a:solidFill>
                            <a:srgbClr val="000000"/>
                          </a:solidFill>
                          <a:latin typeface="Arial" pitchFamily="34" charset="0"/>
                          <a:ea typeface="Arial" pitchFamily="34" charset="-122"/>
                          <a:cs typeface="Arial" pitchFamily="34" charset="-120"/>
                        </a:rPr>
                        <a:t>Frame 0 (6 cars)</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2</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4</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1</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600" dirty="0">
                          <a:solidFill>
                            <a:srgbClr val="000000"/>
                          </a:solidFill>
                          <a:latin typeface="Arial" pitchFamily="34" charset="0"/>
                          <a:ea typeface="Arial" pitchFamily="34" charset="-122"/>
                          <a:cs typeface="Arial" pitchFamily="34" charset="-120"/>
                        </a:rPr>
                        <a:t>Frame 50 (5 cars)</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2</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3</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2</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bl>
          </a:graphicData>
        </a:graphic>
      </p:graphicFrame>
      <p:sp>
        <p:nvSpPr>
          <p:cNvPr id="4" name="Text 1"/>
          <p:cNvSpPr txBox="1"/>
          <p:nvPr/>
        </p:nvSpPr>
        <p:spPr>
          <a:xfrm>
            <a:off x="548640" y="2514600"/>
            <a:ext cx="11091672" cy="617220"/>
          </a:xfrm>
          <a:prstGeom prst="rect">
            <a:avLst/>
          </a:prstGeom>
          <a:noFill/>
          <a:ln/>
        </p:spPr>
        <p:txBody>
          <a:bodyPr wrap="square" lIns="0" tIns="0" rIns="0" bIns="0" rtlCol="0" anchor="t"/>
          <a:lstStyle/>
          <a:p>
            <a:pPr marL="228600" indent="-228600">
              <a:buSzPct val="100000"/>
              <a:buChar char="•"/>
            </a:pPr>
            <a:r>
              <a:rPr lang="en-US" sz="1800" b="1" dirty="0">
                <a:solidFill>
                  <a:srgbClr val="000000"/>
                </a:solidFill>
                <a:latin typeface="Arial" pitchFamily="34" charset="0"/>
                <a:ea typeface="Arial" pitchFamily="34" charset="-122"/>
                <a:cs typeface="Arial" pitchFamily="34" charset="-120"/>
              </a:rPr>
              <a:t>Same pattern, smaller gap. </a:t>
            </a:r>
            <a:r>
              <a:rPr lang="en-US" sz="1800" dirty="0">
                <a:solidFill>
                  <a:srgbClr val="000000"/>
                </a:solidFill>
                <a:latin typeface="Arial" pitchFamily="34" charset="0"/>
                <a:ea typeface="Arial" pitchFamily="34" charset="-122"/>
                <a:cs typeface="Arial" pitchFamily="34" charset="-120"/>
              </a:rPr>
              <a:t>V2VNet finds the most and when2com the fewest, but fewer cars are in view here.</a:t>
            </a:r>
            <a:endParaRPr lang="en-US" sz="1800" dirty="0"/>
          </a:p>
        </p:txBody>
      </p:sp>
      <p:sp>
        <p:nvSpPr>
          <p:cNvPr id="5" name="Text 2"/>
          <p:cNvSpPr txBox="1"/>
          <p:nvPr/>
        </p:nvSpPr>
        <p:spPr>
          <a:xfrm>
            <a:off x="548640" y="3296412"/>
            <a:ext cx="11091672" cy="331470"/>
          </a:xfrm>
          <a:prstGeom prst="rect">
            <a:avLst/>
          </a:prstGeom>
          <a:noFill/>
          <a:ln/>
        </p:spPr>
        <p:txBody>
          <a:bodyPr wrap="square" lIns="0" tIns="0" rIns="0" bIns="0" rtlCol="0" anchor="t"/>
          <a:lstStyle/>
          <a:p>
            <a:pPr marL="228600" indent="-228600">
              <a:buSzPct val="100000"/>
              <a:buChar char="•"/>
            </a:pPr>
            <a:r>
              <a:rPr lang="en-US" sz="1800" b="1" dirty="0">
                <a:solidFill>
                  <a:srgbClr val="000000"/>
                </a:solidFill>
                <a:latin typeface="Arial" pitchFamily="34" charset="0"/>
                <a:ea typeface="Arial" pitchFamily="34" charset="-122"/>
                <a:cs typeface="Arial" pitchFamily="34" charset="-120"/>
              </a:rPr>
              <a:t>Top left (frame 0). </a:t>
            </a:r>
            <a:r>
              <a:rPr lang="en-US" sz="1800" dirty="0">
                <a:solidFill>
                  <a:srgbClr val="000000"/>
                </a:solidFill>
                <a:latin typeface="Arial" pitchFamily="34" charset="0"/>
                <a:ea typeface="Arial" pitchFamily="34" charset="-122"/>
                <a:cs typeface="Arial" pitchFamily="34" charset="-120"/>
              </a:rPr>
              <a:t>Alone finds the nearer car only. V2VNet finds both. when2com finds neither.</a:t>
            </a:r>
            <a:endParaRPr lang="en-US" sz="1800" dirty="0"/>
          </a:p>
        </p:txBody>
      </p:sp>
      <p:sp>
        <p:nvSpPr>
          <p:cNvPr id="6" name="Text 3"/>
          <p:cNvSpPr txBox="1"/>
          <p:nvPr/>
        </p:nvSpPr>
        <p:spPr>
          <a:xfrm>
            <a:off x="548640" y="3792474"/>
            <a:ext cx="11091672" cy="617220"/>
          </a:xfrm>
          <a:prstGeom prst="rect">
            <a:avLst/>
          </a:prstGeom>
          <a:noFill/>
          <a:ln/>
        </p:spPr>
        <p:txBody>
          <a:bodyPr wrap="square" lIns="0" tIns="0" rIns="0" bIns="0" rtlCol="0" anchor="t"/>
          <a:lstStyle/>
          <a:p>
            <a:pPr marL="228600" indent="-228600">
              <a:buSzPct val="100000"/>
              <a:buChar char="•"/>
            </a:pPr>
            <a:r>
              <a:rPr lang="en-US" sz="1800" b="1" dirty="0">
                <a:solidFill>
                  <a:srgbClr val="000000"/>
                </a:solidFill>
                <a:latin typeface="Arial" pitchFamily="34" charset="0"/>
                <a:ea typeface="Arial" pitchFamily="34" charset="-122"/>
                <a:cs typeface="Arial" pitchFamily="34" charset="-120"/>
              </a:rPr>
              <a:t>Our own car. </a:t>
            </a:r>
            <a:r>
              <a:rPr lang="en-US" sz="1800" dirty="0">
                <a:solidFill>
                  <a:srgbClr val="000000"/>
                </a:solidFill>
                <a:latin typeface="Arial" pitchFamily="34" charset="0"/>
                <a:ea typeface="Arial" pitchFamily="34" charset="-122"/>
                <a:cs typeface="Arial" pitchFamily="34" charset="-120"/>
              </a:rPr>
              <a:t>The second box in the row of four. All three models find it, so it is part of every count above.</a:t>
            </a:r>
            <a:endParaRPr lang="en-US" sz="1800" dirty="0"/>
          </a:p>
        </p:txBody>
      </p:sp>
      <p:sp>
        <p:nvSpPr>
          <p:cNvPr id="7" name="Text 4"/>
          <p:cNvSpPr txBox="1"/>
          <p:nvPr/>
        </p:nvSpPr>
        <p:spPr>
          <a:xfrm>
            <a:off x="548640" y="4574286"/>
            <a:ext cx="11091672" cy="617220"/>
          </a:xfrm>
          <a:prstGeom prst="rect">
            <a:avLst/>
          </a:prstGeom>
          <a:noFill/>
          <a:ln/>
        </p:spPr>
        <p:txBody>
          <a:bodyPr wrap="square" lIns="0" tIns="0" rIns="0" bIns="0" rtlCol="0" anchor="t"/>
          <a:lstStyle/>
          <a:p>
            <a:pPr marL="228600" indent="-228600">
              <a:buSzPct val="100000"/>
              <a:buChar char="•"/>
            </a:pPr>
            <a:r>
              <a:rPr lang="en-US" sz="1800" b="1" dirty="0">
                <a:solidFill>
                  <a:srgbClr val="000000"/>
                </a:solidFill>
                <a:latin typeface="Arial" pitchFamily="34" charset="0"/>
                <a:ea typeface="Arial" pitchFamily="34" charset="-122"/>
                <a:cs typeface="Arial" pitchFamily="34" charset="-120"/>
              </a:rPr>
              <a:t>The car behind us (first box). </a:t>
            </a:r>
            <a:r>
              <a:rPr lang="en-US" sz="1800" dirty="0">
                <a:solidFill>
                  <a:srgbClr val="000000"/>
                </a:solidFill>
                <a:latin typeface="Arial" pitchFamily="34" charset="0"/>
                <a:ea typeface="Arial" pitchFamily="34" charset="-122"/>
                <a:cs typeface="Arial" pitchFamily="34" charset="-120"/>
              </a:rPr>
              <a:t>Alone misses it, V2VNet finds it, when2com finds it only sometimes (with a loose box in frame 50).</a:t>
            </a:r>
            <a:endParaRPr lang="en-US" sz="1800" dirty="0"/>
          </a:p>
        </p:txBody>
      </p:sp>
      <p:sp>
        <p:nvSpPr>
          <p:cNvPr id="8" name="Text 5"/>
          <p:cNvSpPr txBox="1"/>
          <p:nvPr/>
        </p:nvSpPr>
        <p:spPr>
          <a:xfrm>
            <a:off x="548640" y="5356098"/>
            <a:ext cx="11091672" cy="617220"/>
          </a:xfrm>
          <a:prstGeom prst="rect">
            <a:avLst/>
          </a:prstGeom>
          <a:noFill/>
          <a:ln/>
        </p:spPr>
        <p:txBody>
          <a:bodyPr wrap="square" lIns="0" tIns="0" rIns="0" bIns="0" rtlCol="0" anchor="t"/>
          <a:lstStyle/>
          <a:p>
            <a:pPr marL="228600" indent="-228600">
              <a:buSzPct val="100000"/>
              <a:buChar char="•"/>
            </a:pPr>
            <a:r>
              <a:rPr lang="en-US" sz="1800" b="1" dirty="0">
                <a:solidFill>
                  <a:srgbClr val="000000"/>
                </a:solidFill>
                <a:latin typeface="Arial" pitchFamily="34" charset="0"/>
                <a:ea typeface="Arial" pitchFamily="34" charset="-122"/>
                <a:cs typeface="Arial" pitchFamily="34" charset="-120"/>
              </a:rPr>
              <a:t>The two cars ahead. </a:t>
            </a:r>
            <a:r>
              <a:rPr lang="en-US" sz="1800" dirty="0">
                <a:solidFill>
                  <a:srgbClr val="000000"/>
                </a:solidFill>
                <a:latin typeface="Arial" pitchFamily="34" charset="0"/>
                <a:ea typeface="Arial" pitchFamily="34" charset="-122"/>
                <a:cs typeface="Arial" pitchFamily="34" charset="-120"/>
              </a:rPr>
              <a:t>Missed by all three models. We first thought they had no LiDAR points, but a recount shows points near the nearer one. The reason is not yet explained.</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95959"/>
                </a:solidFill>
                <a:latin typeface="Arial"/>
                <a:ea typeface="Arial"/>
                <a:cs typeface="Aria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1672" cy="731520"/>
          </a:xfrm>
          <a:prstGeom prst="rect">
            <a:avLst/>
          </a:prstGeom>
          <a:noFill/>
          <a:ln/>
        </p:spPr>
        <p:txBody>
          <a:bodyPr wrap="square" lIns="0" tIns="0" rIns="0" bIns="0" rtlCol="0" anchor="ctr"/>
          <a:lstStyle/>
          <a:p>
            <a:pPr marL="0" indent="0">
              <a:buNone/>
            </a:pPr>
            <a:r>
              <a:rPr lang="en-US" sz="3200" b="1" dirty="0">
                <a:solidFill>
                  <a:srgbClr val="000000"/>
                </a:solidFill>
                <a:latin typeface="Arial" pitchFamily="34" charset="0"/>
                <a:ea typeface="Arial" pitchFamily="34" charset="-122"/>
                <a:cs typeface="Arial" pitchFamily="34" charset="-120"/>
              </a:rPr>
              <a:t>Our Own Car in the Pictures</a:t>
            </a:r>
            <a:endParaRPr lang="en-US" sz="3200" dirty="0"/>
          </a:p>
        </p:txBody>
      </p:sp>
      <p:sp>
        <p:nvSpPr>
          <p:cNvPr id="3" name="Text 1"/>
          <p:cNvSpPr txBox="1"/>
          <p:nvPr/>
        </p:nvSpPr>
        <p:spPr>
          <a:xfrm>
            <a:off x="548640" y="1371600"/>
            <a:ext cx="11091672" cy="617220"/>
          </a:xfrm>
          <a:prstGeom prst="rect">
            <a:avLst/>
          </a:prstGeom>
          <a:noFill/>
          <a:ln/>
        </p:spPr>
        <p:txBody>
          <a:bodyPr wrap="square" lIns="0" tIns="0" rIns="0" bIns="0" rtlCol="0" anchor="t"/>
          <a:lstStyle/>
          <a:p>
            <a:pPr marL="228600" indent="-228600">
              <a:buSzPct val="100000"/>
              <a:buChar char="•"/>
            </a:pPr>
            <a:r>
              <a:rPr lang="en-US" sz="1800" b="1" dirty="0">
                <a:solidFill>
                  <a:srgbClr val="000000"/>
                </a:solidFill>
                <a:latin typeface="Arial" pitchFamily="34" charset="0"/>
                <a:ea typeface="Arial" pitchFamily="34" charset="-122"/>
                <a:cs typeface="Arial" pitchFamily="34" charset="-120"/>
              </a:rPr>
              <a:t>It is in the ground truth. </a:t>
            </a:r>
            <a:r>
              <a:rPr lang="en-US" sz="1800" dirty="0">
                <a:solidFill>
                  <a:srgbClr val="000000"/>
                </a:solidFill>
                <a:latin typeface="Arial" pitchFamily="34" charset="0"/>
                <a:ea typeface="Arial" pitchFamily="34" charset="-122"/>
                <a:cs typeface="Arial" pitchFamily="34" charset="-120"/>
              </a:rPr>
              <a:t>In scene 8 every vehicle's view has a box at the centre of the grid, about 1 m from the sensor. The roadside unit's view has none.</a:t>
            </a:r>
            <a:endParaRPr lang="en-US" sz="1800" dirty="0"/>
          </a:p>
        </p:txBody>
      </p:sp>
      <p:sp>
        <p:nvSpPr>
          <p:cNvPr id="4" name="Text 2"/>
          <p:cNvSpPr txBox="1"/>
          <p:nvPr/>
        </p:nvSpPr>
        <p:spPr>
          <a:xfrm>
            <a:off x="548640" y="2153412"/>
            <a:ext cx="11091672" cy="902970"/>
          </a:xfrm>
          <a:prstGeom prst="rect">
            <a:avLst/>
          </a:prstGeom>
          <a:noFill/>
          <a:ln/>
        </p:spPr>
        <p:txBody>
          <a:bodyPr wrap="square" lIns="0" tIns="0" rIns="0" bIns="0" rtlCol="0" anchor="t"/>
          <a:lstStyle/>
          <a:p>
            <a:pPr marL="228600" indent="-228600">
              <a:buSzPct val="100000"/>
              <a:buChar char="•"/>
            </a:pPr>
            <a:r>
              <a:rPr lang="en-US" sz="1800" b="1" dirty="0">
                <a:solidFill>
                  <a:srgbClr val="000000"/>
                </a:solidFill>
                <a:latin typeface="Arial" pitchFamily="34" charset="0"/>
                <a:ea typeface="Arial" pitchFamily="34" charset="-122"/>
                <a:cs typeface="Arial" pitchFamily="34" charset="-120"/>
              </a:rPr>
              <a:t>All three models find it every time. </a:t>
            </a:r>
            <a:r>
              <a:rPr lang="en-US" sz="1800" dirty="0">
                <a:solidFill>
                  <a:srgbClr val="000000"/>
                </a:solidFill>
                <a:latin typeface="Arial" pitchFamily="34" charset="0"/>
                <a:ea typeface="Arial" pitchFamily="34" charset="-122"/>
                <a:cs typeface="Arial" pitchFamily="34" charset="-120"/>
              </a:rPr>
              <a:t>It has very few LiDAR points on it (2 cells in scene 8). A likely reason is that the box is always at the same place, so a model can predict it without seeing it. We have not tested this.</a:t>
            </a:r>
            <a:endParaRPr lang="en-US" sz="1800" dirty="0"/>
          </a:p>
        </p:txBody>
      </p:sp>
      <p:sp>
        <p:nvSpPr>
          <p:cNvPr id="5" name="Text 3"/>
          <p:cNvSpPr txBox="1"/>
          <p:nvPr/>
        </p:nvSpPr>
        <p:spPr>
          <a:xfrm>
            <a:off x="548640" y="3220974"/>
            <a:ext cx="11091672" cy="617220"/>
          </a:xfrm>
          <a:prstGeom prst="rect">
            <a:avLst/>
          </a:prstGeom>
          <a:noFill/>
          <a:ln/>
        </p:spPr>
        <p:txBody>
          <a:bodyPr wrap="square" lIns="0" tIns="0" rIns="0" bIns="0" rtlCol="0" anchor="t"/>
          <a:lstStyle/>
          <a:p>
            <a:pPr marL="228600" indent="-228600">
              <a:buSzPct val="100000"/>
              <a:buChar char="•"/>
            </a:pPr>
            <a:r>
              <a:rPr lang="en-US" sz="1800" b="1" dirty="0">
                <a:solidFill>
                  <a:srgbClr val="000000"/>
                </a:solidFill>
                <a:latin typeface="Arial" pitchFamily="34" charset="0"/>
                <a:ea typeface="Arial" pitchFamily="34" charset="-122"/>
                <a:cs typeface="Arial" pitchFamily="34" charset="-120"/>
              </a:rPr>
              <a:t>Effect on the scores. </a:t>
            </a:r>
            <a:r>
              <a:rPr lang="en-US" sz="1800" dirty="0">
                <a:solidFill>
                  <a:srgbClr val="000000"/>
                </a:solidFill>
                <a:latin typeface="Arial" pitchFamily="34" charset="0"/>
                <a:ea typeface="Arial" pitchFamily="34" charset="-122"/>
                <a:cs typeface="Arial" pitchFamily="34" charset="-120"/>
              </a:rPr>
              <a:t>Each model gets one easy correct car in every frame. This probably raises all the accuracy numbers and shrinks the gaps. The ranking probably stays the same.</a:t>
            </a:r>
            <a:endParaRPr lang="en-US" sz="1800" dirty="0"/>
          </a:p>
        </p:txBody>
      </p:sp>
      <p:sp>
        <p:nvSpPr>
          <p:cNvPr id="6" name="Text 4"/>
          <p:cNvSpPr txBox="1"/>
          <p:nvPr/>
        </p:nvSpPr>
        <p:spPr>
          <a:xfrm>
            <a:off x="548640" y="4002786"/>
            <a:ext cx="11091672" cy="617220"/>
          </a:xfrm>
          <a:prstGeom prst="rect">
            <a:avLst/>
          </a:prstGeom>
          <a:noFill/>
          <a:ln/>
        </p:spPr>
        <p:txBody>
          <a:bodyPr wrap="square" lIns="0" tIns="0" rIns="0" bIns="0" rtlCol="0" anchor="t"/>
          <a:lstStyle/>
          <a:p>
            <a:pPr marL="228600" indent="-228600">
              <a:buSzPct val="100000"/>
              <a:buChar char="•"/>
            </a:pPr>
            <a:r>
              <a:rPr lang="en-US" sz="1800" b="1" dirty="0">
                <a:solidFill>
                  <a:srgbClr val="000000"/>
                </a:solidFill>
                <a:latin typeface="Arial" pitchFamily="34" charset="0"/>
                <a:ea typeface="Arial" pitchFamily="34" charset="-122"/>
                <a:cs typeface="Arial" pitchFamily="34" charset="-120"/>
              </a:rPr>
              <a:t>LiDAR point counts. </a:t>
            </a:r>
            <a:r>
              <a:rPr lang="en-US" sz="1800" dirty="0">
                <a:solidFill>
                  <a:srgbClr val="000000"/>
                </a:solidFill>
                <a:latin typeface="Arial" pitchFamily="34" charset="0"/>
                <a:ea typeface="Arial" pitchFamily="34" charset="-122"/>
                <a:cs typeface="Arial" pitchFamily="34" charset="-120"/>
              </a:rPr>
              <a:t>Two ways of counting points on each car gave different answers for the far cars, so we do not report them yet. We will fix the method and recount.</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95959"/>
                </a:solidFill>
                <a:latin typeface="Arial"/>
                <a:ea typeface="Arial"/>
                <a:cs typeface="Aria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1672" cy="731520"/>
          </a:xfrm>
          <a:prstGeom prst="rect">
            <a:avLst/>
          </a:prstGeom>
          <a:noFill/>
          <a:ln/>
        </p:spPr>
        <p:txBody>
          <a:bodyPr wrap="square" lIns="0" tIns="0" rIns="0" bIns="0" rtlCol="0" anchor="ctr"/>
          <a:lstStyle/>
          <a:p>
            <a:pPr marL="0" indent="0">
              <a:buNone/>
            </a:pPr>
            <a:r>
              <a:rPr lang="en-US" sz="3200" b="1" dirty="0">
                <a:solidFill>
                  <a:srgbClr val="000000"/>
                </a:solidFill>
                <a:latin typeface="Arial" pitchFamily="34" charset="0"/>
                <a:ea typeface="Arial" pitchFamily="34" charset="-122"/>
                <a:cs typeface="Arial" pitchFamily="34" charset="-120"/>
              </a:rPr>
              <a:t>Why Agent 4?</a:t>
            </a:r>
            <a:endParaRPr lang="en-US" sz="3200" dirty="0"/>
          </a:p>
        </p:txBody>
      </p:sp>
      <p:sp>
        <p:nvSpPr>
          <p:cNvPr id="3" name="Text 1"/>
          <p:cNvSpPr txBox="1"/>
          <p:nvPr/>
        </p:nvSpPr>
        <p:spPr>
          <a:xfrm>
            <a:off x="548640" y="1371600"/>
            <a:ext cx="11091672" cy="363220"/>
          </a:xfrm>
          <a:prstGeom prst="rect">
            <a:avLst/>
          </a:prstGeom>
          <a:noFill/>
          <a:ln/>
        </p:spPr>
        <p:txBody>
          <a:bodyPr wrap="square" lIns="0" tIns="0" rIns="0" bIns="0" rtlCol="0" anchor="t"/>
          <a:lstStyle/>
          <a:p>
            <a:pPr marL="228600" indent="-228600">
              <a:buSzPct val="100000"/>
              <a:buChar char="•"/>
            </a:pPr>
            <a:r>
              <a:rPr lang="en-US" sz="2000" dirty="0">
                <a:solidFill>
                  <a:srgbClr val="000000"/>
                </a:solidFill>
                <a:latin typeface="Arial" pitchFamily="34" charset="0"/>
                <a:ea typeface="Arial" pitchFamily="34" charset="-122"/>
                <a:cs typeface="Arial" pitchFamily="34" charset="-120"/>
              </a:rPr>
              <a:t>The per-vehicle table shows how each vehicle scores alone and with V2VNet.</a:t>
            </a:r>
            <a:endParaRPr lang="en-US" sz="2000" dirty="0"/>
          </a:p>
        </p:txBody>
      </p:sp>
      <p:sp>
        <p:nvSpPr>
          <p:cNvPr id="4" name="Text 2"/>
          <p:cNvSpPr txBox="1"/>
          <p:nvPr/>
        </p:nvSpPr>
        <p:spPr>
          <a:xfrm>
            <a:off x="548640" y="1899412"/>
            <a:ext cx="11091672" cy="680720"/>
          </a:xfrm>
          <a:prstGeom prst="rect">
            <a:avLst/>
          </a:prstGeom>
          <a:noFill/>
          <a:ln/>
        </p:spPr>
        <p:txBody>
          <a:bodyPr wrap="square" lIns="0" tIns="0" rIns="0" bIns="0" rtlCol="0" anchor="t"/>
          <a:lstStyle/>
          <a:p>
            <a:pPr marL="228600" indent="-228600">
              <a:buSzPct val="100000"/>
              <a:buChar char="•"/>
            </a:pPr>
            <a:r>
              <a:rPr lang="en-US" sz="2000" dirty="0">
                <a:solidFill>
                  <a:srgbClr val="000000"/>
                </a:solidFill>
                <a:latin typeface="Arial" pitchFamily="34" charset="0"/>
                <a:ea typeface="Arial" pitchFamily="34" charset="-122"/>
                <a:cs typeface="Arial" pitchFamily="34" charset="-120"/>
              </a:rPr>
              <a:t>Agent 4 is the weakest alone (0.335) and gains the most from V2VNet (+0.254). A car that is missed alone and found with help is easiest to see here.</a:t>
            </a:r>
            <a:endParaRPr lang="en-US" sz="2000" dirty="0"/>
          </a:p>
        </p:txBody>
      </p:sp>
      <p:sp>
        <p:nvSpPr>
          <p:cNvPr id="5" name="Text 3"/>
          <p:cNvSpPr txBox="1"/>
          <p:nvPr/>
        </p:nvSpPr>
        <p:spPr>
          <a:xfrm>
            <a:off x="548640" y="2744724"/>
            <a:ext cx="11091672" cy="680720"/>
          </a:xfrm>
          <a:prstGeom prst="rect">
            <a:avLst/>
          </a:prstGeom>
          <a:noFill/>
          <a:ln/>
        </p:spPr>
        <p:txBody>
          <a:bodyPr wrap="square" lIns="0" tIns="0" rIns="0" bIns="0" rtlCol="0" anchor="t"/>
          <a:lstStyle/>
          <a:p>
            <a:pPr marL="228600" indent="-228600">
              <a:buSzPct val="100000"/>
              <a:buChar char="•"/>
            </a:pPr>
            <a:r>
              <a:rPr lang="en-US" sz="2000" dirty="0">
                <a:solidFill>
                  <a:srgbClr val="000000"/>
                </a:solidFill>
                <a:latin typeface="Arial" pitchFamily="34" charset="0"/>
                <a:ea typeface="Arial" pitchFamily="34" charset="-122"/>
                <a:cs typeface="Arial" pitchFamily="34" charset="-120"/>
              </a:rPr>
              <a:t>We did not start with agent 4. We first looked at agent 1, and the three models looked almost the same in that frame, so we moved to agent 4.</a:t>
            </a:r>
            <a:endParaRPr lang="en-US" sz="2000" dirty="0"/>
          </a:p>
        </p:txBody>
      </p:sp>
      <p:sp>
        <p:nvSpPr>
          <p:cNvPr id="6" name="Text 4"/>
          <p:cNvSpPr txBox="1"/>
          <p:nvPr/>
        </p:nvSpPr>
        <p:spPr>
          <a:xfrm>
            <a:off x="548640" y="3590036"/>
            <a:ext cx="11091672" cy="680720"/>
          </a:xfrm>
          <a:prstGeom prst="rect">
            <a:avLst/>
          </a:prstGeom>
          <a:noFill/>
          <a:ln/>
        </p:spPr>
        <p:txBody>
          <a:bodyPr wrap="square" lIns="0" tIns="0" rIns="0" bIns="0" rtlCol="0" anchor="t"/>
          <a:lstStyle/>
          <a:p>
            <a:pPr marL="228600" indent="-228600">
              <a:buSzPct val="100000"/>
              <a:buChar char="•"/>
            </a:pPr>
            <a:r>
              <a:rPr lang="en-US" sz="2000" b="1" dirty="0">
                <a:solidFill>
                  <a:srgbClr val="000000"/>
                </a:solidFill>
                <a:latin typeface="Arial" pitchFamily="34" charset="0"/>
                <a:ea typeface="Arial" pitchFamily="34" charset="-122"/>
                <a:cs typeface="Arial" pitchFamily="34" charset="-120"/>
              </a:rPr>
              <a:t>Caution: </a:t>
            </a:r>
            <a:r>
              <a:rPr lang="en-US" sz="2000" dirty="0">
                <a:solidFill>
                  <a:srgbClr val="000000"/>
                </a:solidFill>
                <a:latin typeface="Arial" pitchFamily="34" charset="0"/>
                <a:ea typeface="Arial" pitchFamily="34" charset="-122"/>
                <a:cs typeface="Arial" pitchFamily="34" charset="-120"/>
              </a:rPr>
              <a:t>agent 4 is the best case for cooperation, not a typical one. The per-vehicle table covers all five vehicles and is the fair summary.</a:t>
            </a:r>
            <a:endParaRPr lang="en-US" sz="2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95959"/>
                </a:solidFill>
                <a:latin typeface="Arial"/>
                <a:ea typeface="Arial"/>
                <a:cs typeface="Aria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1672" cy="731520"/>
          </a:xfrm>
          <a:prstGeom prst="rect">
            <a:avLst/>
          </a:prstGeom>
          <a:noFill/>
          <a:ln/>
        </p:spPr>
        <p:txBody>
          <a:bodyPr wrap="square" lIns="0" tIns="0" rIns="0" bIns="0" rtlCol="0" anchor="ctr"/>
          <a:lstStyle/>
          <a:p>
            <a:pPr marL="0" indent="0">
              <a:buNone/>
            </a:pPr>
            <a:r>
              <a:rPr lang="en-US" sz="3200" b="1" dirty="0">
                <a:solidFill>
                  <a:srgbClr val="000000"/>
                </a:solidFill>
                <a:latin typeface="Arial" pitchFamily="34" charset="0"/>
                <a:ea typeface="Arial" pitchFamily="34" charset="-122"/>
                <a:cs typeface="Arial" pitchFamily="34" charset="-120"/>
              </a:rPr>
              <a:t>Why These Scenes and Frames?</a:t>
            </a:r>
            <a:endParaRPr lang="en-US" sz="3200" dirty="0"/>
          </a:p>
        </p:txBody>
      </p:sp>
      <p:sp>
        <p:nvSpPr>
          <p:cNvPr id="3" name="Text 1"/>
          <p:cNvSpPr txBox="1"/>
          <p:nvPr/>
        </p:nvSpPr>
        <p:spPr>
          <a:xfrm>
            <a:off x="548640" y="1280160"/>
            <a:ext cx="11091672" cy="331470"/>
          </a:xfrm>
          <a:prstGeom prst="rect">
            <a:avLst/>
          </a:prstGeom>
          <a:noFill/>
          <a:ln/>
        </p:spPr>
        <p:txBody>
          <a:bodyPr wrap="square" lIns="0" tIns="0" rIns="0" bIns="0" rtlCol="0" anchor="t"/>
          <a:lstStyle/>
          <a:p>
            <a:pPr marL="228600" indent="-228600">
              <a:buSzPct val="100000"/>
              <a:buChar char="•"/>
            </a:pPr>
            <a:r>
              <a:rPr lang="en-US" sz="1800" dirty="0">
                <a:solidFill>
                  <a:srgbClr val="000000"/>
                </a:solidFill>
                <a:latin typeface="Arial" pitchFamily="34" charset="0"/>
                <a:ea typeface="Arial" pitchFamily="34" charset="-122"/>
                <a:cs typeface="Arial" pitchFamily="34" charset="-120"/>
              </a:rPr>
              <a:t>The test set has 3 scenes (5, 8 and 19). We show two.</a:t>
            </a:r>
            <a:endParaRPr lang="en-US" sz="1800" dirty="0"/>
          </a:p>
        </p:txBody>
      </p:sp>
      <p:sp>
        <p:nvSpPr>
          <p:cNvPr id="4" name="Text 2"/>
          <p:cNvSpPr txBox="1"/>
          <p:nvPr/>
        </p:nvSpPr>
        <p:spPr>
          <a:xfrm>
            <a:off x="548640" y="1776222"/>
            <a:ext cx="11091672" cy="617220"/>
          </a:xfrm>
          <a:prstGeom prst="rect">
            <a:avLst/>
          </a:prstGeom>
          <a:noFill/>
          <a:ln/>
        </p:spPr>
        <p:txBody>
          <a:bodyPr wrap="square" lIns="0" tIns="0" rIns="0" bIns="0" rtlCol="0" anchor="t"/>
          <a:lstStyle/>
          <a:p>
            <a:pPr marL="228600" indent="-228600">
              <a:buSzPct val="100000"/>
              <a:buChar char="•"/>
            </a:pPr>
            <a:r>
              <a:rPr lang="en-US" sz="1800" dirty="0">
                <a:solidFill>
                  <a:srgbClr val="000000"/>
                </a:solidFill>
                <a:latin typeface="Arial" pitchFamily="34" charset="0"/>
                <a:ea typeface="Arial" pitchFamily="34" charset="-122"/>
                <a:cs typeface="Arial" pitchFamily="34" charset="-120"/>
              </a:rPr>
              <a:t>Scene 19 was the first one we opened. Scene 8 is the only scene with all 5 vehicles, so it checks the full setting. Scene 5 (4 vehicles, like 19) is not shown, but its pictures exist.</a:t>
            </a:r>
            <a:endParaRPr lang="en-US" sz="1800" dirty="0"/>
          </a:p>
        </p:txBody>
      </p:sp>
      <p:sp>
        <p:nvSpPr>
          <p:cNvPr id="5" name="Text 3"/>
          <p:cNvSpPr txBox="1"/>
          <p:nvPr/>
        </p:nvSpPr>
        <p:spPr>
          <a:xfrm>
            <a:off x="548640" y="2558034"/>
            <a:ext cx="11091672" cy="617220"/>
          </a:xfrm>
          <a:prstGeom prst="rect">
            <a:avLst/>
          </a:prstGeom>
          <a:noFill/>
          <a:ln/>
        </p:spPr>
        <p:txBody>
          <a:bodyPr wrap="square" lIns="0" tIns="0" rIns="0" bIns="0" rtlCol="0" anchor="t"/>
          <a:lstStyle/>
          <a:p>
            <a:pPr marL="228600" indent="-228600">
              <a:buSzPct val="100000"/>
              <a:buChar char="•"/>
            </a:pPr>
            <a:r>
              <a:rPr lang="en-US" sz="1800" dirty="0">
                <a:solidFill>
                  <a:srgbClr val="000000"/>
                </a:solidFill>
                <a:latin typeface="Arial" pitchFamily="34" charset="0"/>
                <a:ea typeface="Arial" pitchFamily="34" charset="-122"/>
                <a:cs typeface="Arial" pitchFamily="34" charset="-120"/>
              </a:rPr>
              <a:t>Pictures were saved for every 25th frame (0, 25, 50, 75) to keep the run quick. We picked frames 0 and 50.</a:t>
            </a:r>
            <a:endParaRPr lang="en-US" sz="1800" dirty="0"/>
          </a:p>
        </p:txBody>
      </p:sp>
      <p:sp>
        <p:nvSpPr>
          <p:cNvPr id="6" name="Text 4"/>
          <p:cNvSpPr txBox="1"/>
          <p:nvPr/>
        </p:nvSpPr>
        <p:spPr>
          <a:xfrm>
            <a:off x="548640" y="3339846"/>
            <a:ext cx="11091672" cy="617220"/>
          </a:xfrm>
          <a:prstGeom prst="rect">
            <a:avLst/>
          </a:prstGeom>
          <a:noFill/>
          <a:ln/>
        </p:spPr>
        <p:txBody>
          <a:bodyPr wrap="square" lIns="0" tIns="0" rIns="0" bIns="0" rtlCol="0" anchor="t"/>
          <a:lstStyle/>
          <a:p>
            <a:pPr marL="228600" indent="-228600">
              <a:buSzPct val="100000"/>
              <a:buChar char="•"/>
            </a:pPr>
            <a:r>
              <a:rPr lang="en-US" sz="1800" dirty="0">
                <a:solidFill>
                  <a:srgbClr val="000000"/>
                </a:solidFill>
                <a:latin typeface="Arial" pitchFamily="34" charset="0"/>
                <a:ea typeface="Arial" pitchFamily="34" charset="-122"/>
                <a:cs typeface="Arial" pitchFamily="34" charset="-120"/>
              </a:rPr>
              <a:t>In scene 19 these two showed the clearest difference. We reused them for scene 8 without checking the others, so the differences there are smaller.</a:t>
            </a:r>
            <a:endParaRPr lang="en-US" sz="1800" dirty="0"/>
          </a:p>
        </p:txBody>
      </p:sp>
      <p:sp>
        <p:nvSpPr>
          <p:cNvPr id="7" name="Text 5"/>
          <p:cNvSpPr txBox="1"/>
          <p:nvPr/>
        </p:nvSpPr>
        <p:spPr>
          <a:xfrm>
            <a:off x="548640" y="4121658"/>
            <a:ext cx="11091672" cy="617220"/>
          </a:xfrm>
          <a:prstGeom prst="rect">
            <a:avLst/>
          </a:prstGeom>
          <a:noFill/>
          <a:ln/>
        </p:spPr>
        <p:txBody>
          <a:bodyPr wrap="square" lIns="0" tIns="0" rIns="0" bIns="0" rtlCol="0" anchor="t"/>
          <a:lstStyle/>
          <a:p>
            <a:pPr marL="228600" indent="-228600">
              <a:buSzPct val="100000"/>
              <a:buChar char="•"/>
            </a:pPr>
            <a:r>
              <a:rPr lang="en-US" sz="1800" b="1" dirty="0">
                <a:solidFill>
                  <a:srgbClr val="000000"/>
                </a:solidFill>
                <a:latin typeface="Arial" pitchFamily="34" charset="0"/>
                <a:ea typeface="Arial" pitchFamily="34" charset="-122"/>
                <a:cs typeface="Arial" pitchFamily="34" charset="-120"/>
              </a:rPr>
              <a:t>How to read the pictures: </a:t>
            </a:r>
            <a:r>
              <a:rPr lang="en-US" sz="1800" dirty="0">
                <a:solidFill>
                  <a:srgbClr val="000000"/>
                </a:solidFill>
                <a:latin typeface="Arial" pitchFamily="34" charset="0"/>
                <a:ea typeface="Arial" pitchFamily="34" charset="-122"/>
                <a:cs typeface="Arial" pitchFamily="34" charset="-120"/>
              </a:rPr>
              <a:t>they are examples that explain the numbers. The evidence is in the tables, which cover all 300 test frames.</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95959"/>
                </a:solidFill>
                <a:latin typeface="Arial"/>
                <a:ea typeface="Arial"/>
                <a:cs typeface="Aria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1672" cy="731520"/>
          </a:xfrm>
          <a:prstGeom prst="rect">
            <a:avLst/>
          </a:prstGeom>
          <a:noFill/>
          <a:ln/>
        </p:spPr>
        <p:txBody>
          <a:bodyPr wrap="square" lIns="0" tIns="0" rIns="0" bIns="0" rtlCol="0" anchor="ctr"/>
          <a:lstStyle/>
          <a:p>
            <a:pPr marL="0" indent="0">
              <a:buNone/>
            </a:pPr>
            <a:r>
              <a:rPr lang="en-US" sz="3200" b="1" dirty="0">
                <a:solidFill>
                  <a:srgbClr val="000000"/>
                </a:solidFill>
                <a:latin typeface="Arial" pitchFamily="34" charset="0"/>
                <a:ea typeface="Arial" pitchFamily="34" charset="-122"/>
                <a:cs typeface="Arial" pitchFamily="34" charset="-120"/>
              </a:rPr>
              <a:t>Scope Note</a:t>
            </a:r>
            <a:endParaRPr lang="en-US" sz="3200" dirty="0"/>
          </a:p>
        </p:txBody>
      </p:sp>
      <p:sp>
        <p:nvSpPr>
          <p:cNvPr id="3" name="Text 1"/>
          <p:cNvSpPr txBox="1"/>
          <p:nvPr/>
        </p:nvSpPr>
        <p:spPr>
          <a:xfrm>
            <a:off x="548640" y="1371600"/>
            <a:ext cx="11091672" cy="1828800"/>
          </a:xfrm>
          <a:prstGeom prst="rect">
            <a:avLst/>
          </a:prstGeom>
          <a:noFill/>
          <a:ln/>
        </p:spPr>
        <p:txBody>
          <a:bodyPr wrap="square" lIns="0" tIns="0" rIns="0" bIns="0" rtlCol="0" anchor="t"/>
          <a:lstStyle/>
          <a:p>
            <a:pPr marL="0" indent="0">
              <a:buNone/>
            </a:pPr>
            <a:r>
              <a:rPr lang="en-US" sz="2200" dirty="0">
                <a:solidFill>
                  <a:srgbClr val="000000"/>
                </a:solidFill>
                <a:latin typeface="Arial" pitchFamily="34" charset="0"/>
                <a:ea typeface="Arial" pitchFamily="34" charset="-122"/>
                <a:cs typeface="Arial" pitchFamily="34" charset="-120"/>
              </a:rPr>
              <a:t>We use five vehicles and no roadside unit. V2VNet and when2com are vehicle-to-vehicle methods and all available models were trained this way. Roadside units are left for future work.</a:t>
            </a:r>
            <a:endParaRPr lang="en-US" sz="2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95959"/>
                </a:solidFill>
                <a:latin typeface="Arial"/>
                <a:ea typeface="Arial"/>
                <a:cs typeface="Aria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1672" cy="731520"/>
          </a:xfrm>
          <a:prstGeom prst="rect">
            <a:avLst/>
          </a:prstGeom>
          <a:noFill/>
          <a:ln/>
        </p:spPr>
        <p:txBody>
          <a:bodyPr wrap="square" lIns="0" tIns="0" rIns="0" bIns="0" rtlCol="0" anchor="ctr"/>
          <a:lstStyle/>
          <a:p>
            <a:pPr marL="0" indent="0">
              <a:buNone/>
            </a:pPr>
            <a:r>
              <a:rPr lang="en-US" sz="3200" b="1" dirty="0">
                <a:solidFill>
                  <a:srgbClr val="000000"/>
                </a:solidFill>
                <a:latin typeface="Arial" pitchFamily="34" charset="0"/>
                <a:ea typeface="Arial" pitchFamily="34" charset="-122"/>
                <a:cs typeface="Arial" pitchFamily="34" charset="-120"/>
              </a:rPr>
              <a:t>Week 4: Can These Models Run on a Jetson Nano?</a:t>
            </a:r>
            <a:endParaRPr lang="en-US" sz="3200" dirty="0"/>
          </a:p>
        </p:txBody>
      </p:sp>
      <p:sp>
        <p:nvSpPr>
          <p:cNvPr id="3" name="Text 1"/>
          <p:cNvSpPr txBox="1"/>
          <p:nvPr/>
        </p:nvSpPr>
        <p:spPr>
          <a:xfrm>
            <a:off x="548640" y="1234440"/>
            <a:ext cx="11091672" cy="914400"/>
          </a:xfrm>
          <a:prstGeom prst="rect">
            <a:avLst/>
          </a:prstGeom>
          <a:noFill/>
          <a:ln/>
        </p:spPr>
        <p:txBody>
          <a:bodyPr wrap="square" lIns="0" tIns="0" rIns="0" bIns="0" rtlCol="0" anchor="t"/>
          <a:lstStyle/>
          <a:p>
            <a:pPr marL="0" indent="0">
              <a:buNone/>
            </a:pPr>
            <a:r>
              <a:rPr lang="en-US" sz="1800" dirty="0">
                <a:solidFill>
                  <a:srgbClr val="000000"/>
                </a:solidFill>
                <a:latin typeface="Arial" pitchFamily="34" charset="0"/>
                <a:ea typeface="Arial" pitchFamily="34" charset="-122"/>
                <a:cs typeface="Arial" pitchFamily="34" charset="-120"/>
              </a:rPr>
              <a:t>We measured each model on a cloud T4 GPU and compared the results with the Nano's published limits: 4 GB memory, 472 GFLOPS at 16-bit precision (about 236 GFLOPS at 32-bit), and our assumed 100 ms target (10 updates per second).</a:t>
            </a:r>
            <a:endParaRPr lang="en-US" sz="1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2423160"/>
          <a:ext cx="11091672" cy="914400"/>
        </p:xfrm>
        <a:graphic>
          <a:graphicData uri="http://schemas.openxmlformats.org/drawingml/2006/table">
            <a:tbl>
              <a:tblPr/>
              <a:tblGrid>
                <a:gridCol w="27432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3044952">
                  <a:extLst>
                    <a:ext uri="{9D8B030D-6E8A-4147-A177-3AD203B41FA5}">
                      <a16:colId xmlns:a16="http://schemas.microsoft.com/office/drawing/2014/main" val="20004"/>
                    </a:ext>
                  </a:extLst>
                </a:gridCol>
              </a:tblGrid>
              <a:tr h="0">
                <a:tc>
                  <a:txBody>
                    <a:bodyPr/>
                    <a:lstStyle/>
                    <a:p>
                      <a:pPr marL="0" indent="0" algn="ctr">
                        <a:buNone/>
                      </a:pPr>
                      <a:r>
                        <a:rPr lang="en-US" sz="1800" b="1" dirty="0">
                          <a:solidFill>
                            <a:srgbClr val="000000"/>
                          </a:solidFill>
                          <a:latin typeface="Arial" pitchFamily="34" charset="0"/>
                          <a:ea typeface="Arial" pitchFamily="34" charset="-122"/>
                          <a:cs typeface="Arial" pitchFamily="34" charset="-120"/>
                        </a:rPr>
                        <a:t>Model</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D9D9D9"/>
                    </a:solidFill>
                  </a:tcPr>
                </a:tc>
                <a:tc>
                  <a:txBody>
                    <a:bodyPr/>
                    <a:lstStyle/>
                    <a:p>
                      <a:pPr marL="0" indent="0" algn="ctr">
                        <a:buNone/>
                      </a:pPr>
                      <a:r>
                        <a:rPr lang="en-US" sz="1800" b="1" dirty="0">
                          <a:solidFill>
                            <a:srgbClr val="000000"/>
                          </a:solidFill>
                          <a:latin typeface="Arial" pitchFamily="34" charset="0"/>
                          <a:ea typeface="Arial" pitchFamily="34" charset="-122"/>
                          <a:cs typeface="Arial" pitchFamily="34" charset="-120"/>
                        </a:rPr>
                        <a:t>Weights</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D9D9D9"/>
                    </a:solidFill>
                  </a:tcPr>
                </a:tc>
                <a:tc>
                  <a:txBody>
                    <a:bodyPr/>
                    <a:lstStyle/>
                    <a:p>
                      <a:pPr marL="0" indent="0" algn="ctr">
                        <a:buNone/>
                      </a:pPr>
                      <a:r>
                        <a:rPr lang="en-US" sz="1800" b="1" dirty="0">
                          <a:solidFill>
                            <a:srgbClr val="000000"/>
                          </a:solidFill>
                          <a:latin typeface="Arial" pitchFamily="34" charset="0"/>
                          <a:ea typeface="Arial" pitchFamily="34" charset="-122"/>
                          <a:cs typeface="Arial" pitchFamily="34" charset="-120"/>
                        </a:rPr>
                        <a:t>Peak memory</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D9D9D9"/>
                    </a:solidFill>
                  </a:tcPr>
                </a:tc>
                <a:tc>
                  <a:txBody>
                    <a:bodyPr/>
                    <a:lstStyle/>
                    <a:p>
                      <a:pPr marL="0" indent="0" algn="ctr">
                        <a:buNone/>
                      </a:pPr>
                      <a:r>
                        <a:rPr lang="en-US" sz="1800" b="1" dirty="0">
                          <a:solidFill>
                            <a:srgbClr val="000000"/>
                          </a:solidFill>
                          <a:latin typeface="Arial" pitchFamily="34" charset="0"/>
                          <a:ea typeface="Arial" pitchFamily="34" charset="-122"/>
                          <a:cs typeface="Arial" pitchFamily="34" charset="-120"/>
                        </a:rPr>
                        <a:t>Time on T4</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D9D9D9"/>
                    </a:solidFill>
                  </a:tcPr>
                </a:tc>
                <a:tc>
                  <a:txBody>
                    <a:bodyPr/>
                    <a:lstStyle/>
                    <a:p>
                      <a:pPr marL="0" indent="0" algn="ctr">
                        <a:buNone/>
                      </a:pPr>
                      <a:r>
                        <a:rPr lang="en-US" sz="1800" b="1" dirty="0">
                          <a:solidFill>
                            <a:srgbClr val="000000"/>
                          </a:solidFill>
                          <a:latin typeface="Arial" pitchFamily="34" charset="0"/>
                          <a:ea typeface="Arial" pitchFamily="34" charset="-122"/>
                          <a:cs typeface="Arial" pitchFamily="34" charset="-120"/>
                        </a:rPr>
                        <a:t>Est. Nano time per vehicle*</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0">
                <a:tc>
                  <a:txBody>
                    <a:bodyPr/>
                    <a:lstStyle/>
                    <a:p>
                      <a:pPr marL="0" indent="0" algn="l">
                        <a:buNone/>
                      </a:pPr>
                      <a:r>
                        <a:rPr lang="en-US" sz="1800" dirty="0">
                          <a:solidFill>
                            <a:srgbClr val="000000"/>
                          </a:solidFill>
                          <a:latin typeface="Arial" pitchFamily="34" charset="0"/>
                          <a:ea typeface="Arial" pitchFamily="34" charset="-122"/>
                          <a:cs typeface="Arial" pitchFamily="34" charset="-120"/>
                        </a:rPr>
                        <a:t>Alone (baseline)</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000000"/>
                          </a:solidFill>
                          <a:latin typeface="Arial" pitchFamily="34" charset="0"/>
                          <a:ea typeface="Arial" pitchFamily="34" charset="-122"/>
                          <a:cs typeface="Arial" pitchFamily="34" charset="-120"/>
                        </a:rPr>
                        <a:t>32 MB</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000000"/>
                          </a:solidFill>
                          <a:latin typeface="Arial" pitchFamily="34" charset="0"/>
                          <a:ea typeface="Arial" pitchFamily="34" charset="-122"/>
                          <a:cs typeface="Arial" pitchFamily="34" charset="-120"/>
                        </a:rPr>
                        <a:t>0.93 GB</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000000"/>
                          </a:solidFill>
                          <a:latin typeface="Arial" pitchFamily="34" charset="0"/>
                          <a:ea typeface="Arial" pitchFamily="34" charset="-122"/>
                          <a:cs typeface="Arial" pitchFamily="34" charset="-120"/>
                        </a:rPr>
                        <a:t>97 ms</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000000"/>
                          </a:solidFill>
                          <a:latin typeface="Arial" pitchFamily="34" charset="0"/>
                          <a:ea typeface="Arial" pitchFamily="34" charset="-122"/>
                          <a:cs typeface="Arial" pitchFamily="34" charset="-120"/>
                        </a:rPr>
                        <a:t>66 to 220 ms</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800" dirty="0">
                          <a:solidFill>
                            <a:srgbClr val="000000"/>
                          </a:solidFill>
                          <a:latin typeface="Arial" pitchFamily="34" charset="0"/>
                          <a:ea typeface="Arial" pitchFamily="34" charset="-122"/>
                          <a:cs typeface="Arial" pitchFamily="34" charset="-120"/>
                        </a:rPr>
                        <a:t>V2VNet</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tc>
                  <a:txBody>
                    <a:bodyPr/>
                    <a:lstStyle/>
                    <a:p>
                      <a:pPr marL="0" indent="0" algn="ctr">
                        <a:buNone/>
                      </a:pPr>
                      <a:r>
                        <a:rPr lang="en-US" sz="1800" dirty="0">
                          <a:solidFill>
                            <a:srgbClr val="000000"/>
                          </a:solidFill>
                          <a:latin typeface="Arial" pitchFamily="34" charset="0"/>
                          <a:ea typeface="Arial" pitchFamily="34" charset="-122"/>
                          <a:cs typeface="Arial" pitchFamily="34" charset="-120"/>
                        </a:rPr>
                        <a:t>84 MB</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tc>
                  <a:txBody>
                    <a:bodyPr/>
                    <a:lstStyle/>
                    <a:p>
                      <a:pPr marL="0" indent="0" algn="ctr">
                        <a:buNone/>
                      </a:pPr>
                      <a:r>
                        <a:rPr lang="en-US" sz="1800" dirty="0">
                          <a:solidFill>
                            <a:srgbClr val="000000"/>
                          </a:solidFill>
                          <a:latin typeface="Arial" pitchFamily="34" charset="0"/>
                          <a:ea typeface="Arial" pitchFamily="34" charset="-122"/>
                          <a:cs typeface="Arial" pitchFamily="34" charset="-120"/>
                        </a:rPr>
                        <a:t>1.02 GB</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tc>
                  <a:txBody>
                    <a:bodyPr/>
                    <a:lstStyle/>
                    <a:p>
                      <a:pPr marL="0" indent="0" algn="ctr">
                        <a:buNone/>
                      </a:pPr>
                      <a:r>
                        <a:rPr lang="en-US" sz="1800" dirty="0">
                          <a:solidFill>
                            <a:srgbClr val="000000"/>
                          </a:solidFill>
                          <a:latin typeface="Arial" pitchFamily="34" charset="0"/>
                          <a:ea typeface="Arial" pitchFamily="34" charset="-122"/>
                          <a:cs typeface="Arial" pitchFamily="34" charset="-120"/>
                        </a:rPr>
                        <a:t>181 ms</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tc>
                  <a:txBody>
                    <a:bodyPr/>
                    <a:lstStyle/>
                    <a:p>
                      <a:pPr marL="0" indent="0" algn="ctr">
                        <a:buNone/>
                      </a:pPr>
                      <a:r>
                        <a:rPr lang="en-US" sz="1800" dirty="0">
                          <a:solidFill>
                            <a:srgbClr val="000000"/>
                          </a:solidFill>
                          <a:latin typeface="Arial" pitchFamily="34" charset="0"/>
                          <a:ea typeface="Arial" pitchFamily="34" charset="-122"/>
                          <a:cs typeface="Arial" pitchFamily="34" charset="-120"/>
                        </a:rPr>
                        <a:t>135 to 450 ms</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0">
                <a:tc>
                  <a:txBody>
                    <a:bodyPr/>
                    <a:lstStyle/>
                    <a:p>
                      <a:pPr marL="0" indent="0" algn="l">
                        <a:buNone/>
                      </a:pPr>
                      <a:r>
                        <a:rPr lang="en-US" sz="1800" dirty="0">
                          <a:solidFill>
                            <a:srgbClr val="000000"/>
                          </a:solidFill>
                          <a:latin typeface="Arial" pitchFamily="34" charset="0"/>
                          <a:ea typeface="Arial" pitchFamily="34" charset="-122"/>
                          <a:cs typeface="Arial" pitchFamily="34" charset="-120"/>
                        </a:rPr>
                        <a:t>when2com</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000000"/>
                          </a:solidFill>
                          <a:latin typeface="Arial" pitchFamily="34" charset="0"/>
                          <a:ea typeface="Arial" pitchFamily="34" charset="-122"/>
                          <a:cs typeface="Arial" pitchFamily="34" charset="-120"/>
                        </a:rPr>
                        <a:t>125 MB</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000000"/>
                          </a:solidFill>
                          <a:latin typeface="Arial" pitchFamily="34" charset="0"/>
                          <a:ea typeface="Arial" pitchFamily="34" charset="-122"/>
                          <a:cs typeface="Arial" pitchFamily="34" charset="-120"/>
                        </a:rPr>
                        <a:t>1.07 GB</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000000"/>
                          </a:solidFill>
                          <a:latin typeface="Arial" pitchFamily="34" charset="0"/>
                          <a:ea typeface="Arial" pitchFamily="34" charset="-122"/>
                          <a:cs typeface="Arial" pitchFamily="34" charset="-120"/>
                        </a:rPr>
                        <a:t>187 ms</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000000"/>
                          </a:solidFill>
                          <a:latin typeface="Arial" pitchFamily="34" charset="0"/>
                          <a:ea typeface="Arial" pitchFamily="34" charset="-122"/>
                          <a:cs typeface="Arial" pitchFamily="34" charset="-120"/>
                        </a:rPr>
                        <a:t>131 to 436 ms</a:t>
                      </a:r>
                      <a:endParaRPr lang="en-US" sz="18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2"/>
          <p:cNvSpPr txBox="1"/>
          <p:nvPr/>
        </p:nvSpPr>
        <p:spPr>
          <a:xfrm>
            <a:off x="548640" y="4572000"/>
            <a:ext cx="11091672" cy="914400"/>
          </a:xfrm>
          <a:prstGeom prst="rect">
            <a:avLst/>
          </a:prstGeom>
          <a:noFill/>
          <a:ln/>
        </p:spPr>
        <p:txBody>
          <a:bodyPr wrap="square" lIns="0" tIns="0" rIns="0" bIns="0" rtlCol="0" anchor="t"/>
          <a:lstStyle/>
          <a:p>
            <a:pPr marL="0" indent="0">
              <a:buNone/>
            </a:pPr>
            <a:r>
              <a:rPr lang="en-US" sz="1400" i="1" dirty="0">
                <a:solidFill>
                  <a:srgbClr val="000000"/>
                </a:solidFill>
                <a:latin typeface="Arial" pitchFamily="34" charset="0"/>
                <a:ea typeface="Arial" pitchFamily="34" charset="-122"/>
                <a:cs typeface="Arial" pitchFamily="34" charset="-120"/>
              </a:rPr>
              <a:t>*From the model's compute (FLOPs), assuming 16-bit precision. Low end assumes the Nano runs at full speed, high end at a realistic 30%. The T4 itself ran at about 20% of its peak. At 32-bit, which the models use today, these times double.</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95959"/>
                </a:solidFill>
                <a:latin typeface="Arial"/>
                <a:ea typeface="Arial"/>
                <a:cs typeface="Aria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1672" cy="731520"/>
          </a:xfrm>
          <a:prstGeom prst="rect">
            <a:avLst/>
          </a:prstGeom>
          <a:noFill/>
          <a:ln/>
        </p:spPr>
        <p:txBody>
          <a:bodyPr wrap="square" lIns="0" tIns="0" rIns="0" bIns="0" rtlCol="0" anchor="ctr"/>
          <a:lstStyle/>
          <a:p>
            <a:pPr marL="0" indent="0">
              <a:buNone/>
            </a:pPr>
            <a:r>
              <a:rPr lang="en-US" sz="3200" b="1" dirty="0">
                <a:solidFill>
                  <a:srgbClr val="000000"/>
                </a:solidFill>
                <a:latin typeface="Arial" pitchFamily="34" charset="0"/>
                <a:ea typeface="Arial" pitchFamily="34" charset="-122"/>
                <a:cs typeface="Arial" pitchFamily="34" charset="-120"/>
              </a:rPr>
              <a:t>How We Estimated the Nano Time</a:t>
            </a:r>
            <a:endParaRPr lang="en-US" sz="3200" dirty="0"/>
          </a:p>
        </p:txBody>
      </p:sp>
      <p:sp>
        <p:nvSpPr>
          <p:cNvPr id="3" name="Text 1"/>
          <p:cNvSpPr txBox="1"/>
          <p:nvPr/>
        </p:nvSpPr>
        <p:spPr>
          <a:xfrm>
            <a:off x="548640" y="1280160"/>
            <a:ext cx="11091672" cy="685800"/>
          </a:xfrm>
          <a:prstGeom prst="rect">
            <a:avLst/>
          </a:prstGeom>
          <a:noFill/>
          <a:ln/>
        </p:spPr>
        <p:txBody>
          <a:bodyPr wrap="square" lIns="0" tIns="0" rIns="0" bIns="0" rtlCol="0" anchor="t"/>
          <a:lstStyle/>
          <a:p>
            <a:pPr marL="0" indent="0">
              <a:buNone/>
            </a:pPr>
            <a:r>
              <a:rPr lang="en-US" sz="1800" b="1" dirty="0">
                <a:solidFill>
                  <a:srgbClr val="000000"/>
                </a:solidFill>
                <a:latin typeface="Arial" pitchFamily="34" charset="0"/>
                <a:ea typeface="Arial" pitchFamily="34" charset="-122"/>
                <a:cs typeface="Arial" pitchFamily="34" charset="-120"/>
              </a:rPr>
              <a:t>1.  Count the work. </a:t>
            </a:r>
            <a:r>
              <a:rPr lang="en-US" sz="1800" dirty="0">
                <a:solidFill>
                  <a:srgbClr val="000000"/>
                </a:solidFill>
                <a:latin typeface="Arial" pitchFamily="34" charset="0"/>
                <a:ea typeface="Arial" pitchFamily="34" charset="-122"/>
                <a:cs typeface="Arial" pitchFamily="34" charset="-120"/>
              </a:rPr>
              <a:t>PyTorch's built-in counter measured the operations (FLOPs) in one frame. Example: V2VNet needs 318.9 GFLOPs for all 5 vehicles.</a:t>
            </a:r>
            <a:endParaRPr lang="en-US" sz="1800" dirty="0"/>
          </a:p>
        </p:txBody>
      </p:sp>
      <p:sp>
        <p:nvSpPr>
          <p:cNvPr id="4" name="Text 2"/>
          <p:cNvSpPr txBox="1"/>
          <p:nvPr/>
        </p:nvSpPr>
        <p:spPr>
          <a:xfrm>
            <a:off x="548640" y="2057400"/>
            <a:ext cx="11091672" cy="685800"/>
          </a:xfrm>
          <a:prstGeom prst="rect">
            <a:avLst/>
          </a:prstGeom>
          <a:noFill/>
          <a:ln/>
        </p:spPr>
        <p:txBody>
          <a:bodyPr wrap="square" lIns="0" tIns="0" rIns="0" bIns="0" rtlCol="0" anchor="t"/>
          <a:lstStyle/>
          <a:p>
            <a:pPr marL="0" indent="0">
              <a:buNone/>
            </a:pPr>
            <a:r>
              <a:rPr lang="en-US" sz="1800" b="1" dirty="0">
                <a:solidFill>
                  <a:srgbClr val="000000"/>
                </a:solidFill>
                <a:latin typeface="Arial" pitchFamily="34" charset="0"/>
                <a:ea typeface="Arial" pitchFamily="34" charset="-122"/>
                <a:cs typeface="Arial" pitchFamily="34" charset="-120"/>
              </a:rPr>
              <a:t>2.  Split per vehicle. </a:t>
            </a:r>
            <a:r>
              <a:rPr lang="en-US" sz="1800" dirty="0">
                <a:solidFill>
                  <a:srgbClr val="000000"/>
                </a:solidFill>
                <a:latin typeface="Arial" pitchFamily="34" charset="0"/>
                <a:ea typeface="Arial" pitchFamily="34" charset="-122"/>
                <a:cs typeface="Arial" pitchFamily="34" charset="-120"/>
              </a:rPr>
              <a:t>Each test frame runs all 5 vehicles at once, but a real car runs only its own share: 318.9 / 5 = 63.8 GFLOPs.</a:t>
            </a:r>
            <a:endParaRPr lang="en-US" sz="1800" dirty="0"/>
          </a:p>
        </p:txBody>
      </p:sp>
      <p:sp>
        <p:nvSpPr>
          <p:cNvPr id="5" name="Text 3"/>
          <p:cNvSpPr txBox="1"/>
          <p:nvPr/>
        </p:nvSpPr>
        <p:spPr>
          <a:xfrm>
            <a:off x="548640" y="2834640"/>
            <a:ext cx="11091672" cy="685800"/>
          </a:xfrm>
          <a:prstGeom prst="rect">
            <a:avLst/>
          </a:prstGeom>
          <a:noFill/>
          <a:ln/>
        </p:spPr>
        <p:txBody>
          <a:bodyPr wrap="square" lIns="0" tIns="0" rIns="0" bIns="0" rtlCol="0" anchor="t"/>
          <a:lstStyle/>
          <a:p>
            <a:pPr marL="0" indent="0">
              <a:buNone/>
            </a:pPr>
            <a:r>
              <a:rPr lang="en-US" sz="1800" b="1" dirty="0">
                <a:solidFill>
                  <a:srgbClr val="000000"/>
                </a:solidFill>
                <a:latin typeface="Arial" pitchFamily="34" charset="0"/>
                <a:ea typeface="Arial" pitchFamily="34" charset="-122"/>
                <a:cs typeface="Arial" pitchFamily="34" charset="-120"/>
              </a:rPr>
              <a:t>3.  Divide by the Nano's speed. </a:t>
            </a:r>
            <a:r>
              <a:rPr lang="en-US" sz="1800" dirty="0">
                <a:solidFill>
                  <a:srgbClr val="000000"/>
                </a:solidFill>
                <a:latin typeface="Arial" pitchFamily="34" charset="0"/>
                <a:ea typeface="Arial" pitchFamily="34" charset="-122"/>
                <a:cs typeface="Arial" pitchFamily="34" charset="-120"/>
              </a:rPr>
              <a:t>The Nano's published peak is 472 GFLOPS (16-bit): 63.8 / 472 = 135 ms. This is the ideal case, at full speed.</a:t>
            </a:r>
            <a:endParaRPr lang="en-US" sz="1800" dirty="0"/>
          </a:p>
        </p:txBody>
      </p:sp>
      <p:sp>
        <p:nvSpPr>
          <p:cNvPr id="6" name="Text 4"/>
          <p:cNvSpPr txBox="1"/>
          <p:nvPr/>
        </p:nvSpPr>
        <p:spPr>
          <a:xfrm>
            <a:off x="548640" y="3611880"/>
            <a:ext cx="11091672" cy="685800"/>
          </a:xfrm>
          <a:prstGeom prst="rect">
            <a:avLst/>
          </a:prstGeom>
          <a:noFill/>
          <a:ln/>
        </p:spPr>
        <p:txBody>
          <a:bodyPr wrap="square" lIns="0" tIns="0" rIns="0" bIns="0" rtlCol="0" anchor="t"/>
          <a:lstStyle/>
          <a:p>
            <a:pPr marL="0" indent="0">
              <a:buNone/>
            </a:pPr>
            <a:r>
              <a:rPr lang="en-US" sz="1800" b="1" dirty="0">
                <a:solidFill>
                  <a:srgbClr val="000000"/>
                </a:solidFill>
                <a:latin typeface="Arial" pitchFamily="34" charset="0"/>
                <a:ea typeface="Arial" pitchFamily="34" charset="-122"/>
                <a:cs typeface="Arial" pitchFamily="34" charset="-120"/>
              </a:rPr>
              <a:t>4.  Adjust for real-world speed. </a:t>
            </a:r>
            <a:r>
              <a:rPr lang="en-US" sz="1800" dirty="0">
                <a:solidFill>
                  <a:srgbClr val="000000"/>
                </a:solidFill>
                <a:latin typeface="Arial" pitchFamily="34" charset="0"/>
                <a:ea typeface="Arial" pitchFamily="34" charset="-122"/>
                <a:cs typeface="Arial" pitchFamily="34" charset="-120"/>
              </a:rPr>
              <a:t>Chips rarely reach their peak. On the T4, our models reached only about 20% of its peak, so we also show 30%: 135 / 0.30 = 450 ms.</a:t>
            </a:r>
            <a:endParaRPr lang="en-US" sz="1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4526280"/>
          <a:ext cx="11091672" cy="914400"/>
        </p:xfrm>
        <a:graphic>
          <a:graphicData uri="http://schemas.openxmlformats.org/drawingml/2006/table">
            <a:tbl>
              <a:tblPr/>
              <a:tblGrid>
                <a:gridCol w="310896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679192">
                  <a:extLst>
                    <a:ext uri="{9D8B030D-6E8A-4147-A177-3AD203B41FA5}">
                      <a16:colId xmlns:a16="http://schemas.microsoft.com/office/drawing/2014/main" val="20003"/>
                    </a:ext>
                  </a:extLst>
                </a:gridCol>
              </a:tblGrid>
              <a:tr h="0">
                <a:tc>
                  <a:txBody>
                    <a:bodyPr/>
                    <a:lstStyle/>
                    <a:p>
                      <a:pPr marL="0" indent="0" algn="ctr">
                        <a:buNone/>
                      </a:pPr>
                      <a:r>
                        <a:rPr lang="en-US" sz="1600" b="1" dirty="0">
                          <a:solidFill>
                            <a:srgbClr val="000000"/>
                          </a:solidFill>
                          <a:latin typeface="Arial" pitchFamily="34" charset="0"/>
                          <a:ea typeface="Arial" pitchFamily="34" charset="-122"/>
                          <a:cs typeface="Arial" pitchFamily="34" charset="-120"/>
                        </a:rPr>
                        <a:t>Model</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D9D9D9"/>
                    </a:solidFill>
                  </a:tcPr>
                </a:tc>
                <a:tc>
                  <a:txBody>
                    <a:bodyPr/>
                    <a:lstStyle/>
                    <a:p>
                      <a:pPr marL="0" indent="0" algn="ctr">
                        <a:buNone/>
                      </a:pPr>
                      <a:r>
                        <a:rPr lang="en-US" sz="1600" b="1" dirty="0">
                          <a:solidFill>
                            <a:srgbClr val="000000"/>
                          </a:solidFill>
                          <a:latin typeface="Arial" pitchFamily="34" charset="0"/>
                          <a:ea typeface="Arial" pitchFamily="34" charset="-122"/>
                          <a:cs typeface="Arial" pitchFamily="34" charset="-120"/>
                        </a:rPr>
                        <a:t>GFLOPs per vehicle</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D9D9D9"/>
                    </a:solidFill>
                  </a:tcPr>
                </a:tc>
                <a:tc>
                  <a:txBody>
                    <a:bodyPr/>
                    <a:lstStyle/>
                    <a:p>
                      <a:pPr marL="0" indent="0" algn="ctr">
                        <a:buNone/>
                      </a:pPr>
                      <a:r>
                        <a:rPr lang="en-US" sz="1600" b="1" dirty="0">
                          <a:solidFill>
                            <a:srgbClr val="000000"/>
                          </a:solidFill>
                          <a:latin typeface="Arial" pitchFamily="34" charset="0"/>
                          <a:ea typeface="Arial" pitchFamily="34" charset="-122"/>
                          <a:cs typeface="Arial" pitchFamily="34" charset="-120"/>
                        </a:rPr>
                        <a:t>Ideal (100%)</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D9D9D9"/>
                    </a:solidFill>
                  </a:tcPr>
                </a:tc>
                <a:tc>
                  <a:txBody>
                    <a:bodyPr/>
                    <a:lstStyle/>
                    <a:p>
                      <a:pPr marL="0" indent="0" algn="ctr">
                        <a:buNone/>
                      </a:pPr>
                      <a:r>
                        <a:rPr lang="en-US" sz="1600" b="1" dirty="0">
                          <a:solidFill>
                            <a:srgbClr val="000000"/>
                          </a:solidFill>
                          <a:latin typeface="Arial" pitchFamily="34" charset="0"/>
                          <a:ea typeface="Arial" pitchFamily="34" charset="-122"/>
                          <a:cs typeface="Arial" pitchFamily="34" charset="-120"/>
                        </a:rPr>
                        <a:t>Realistic (30%)</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0">
                <a:tc>
                  <a:txBody>
                    <a:bodyPr/>
                    <a:lstStyle/>
                    <a:p>
                      <a:pPr marL="0" indent="0" algn="l">
                        <a:buNone/>
                      </a:pPr>
                      <a:r>
                        <a:rPr lang="en-US" sz="1600" dirty="0">
                          <a:solidFill>
                            <a:srgbClr val="000000"/>
                          </a:solidFill>
                          <a:latin typeface="Arial" pitchFamily="34" charset="0"/>
                          <a:ea typeface="Arial" pitchFamily="34" charset="-122"/>
                          <a:cs typeface="Arial" pitchFamily="34" charset="-120"/>
                        </a:rPr>
                        <a:t>Alone (baseline)</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31.2</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66 ms</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220 ms</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600" dirty="0">
                          <a:solidFill>
                            <a:srgbClr val="000000"/>
                          </a:solidFill>
                          <a:latin typeface="Arial" pitchFamily="34" charset="0"/>
                          <a:ea typeface="Arial" pitchFamily="34" charset="-122"/>
                          <a:cs typeface="Arial" pitchFamily="34" charset="-120"/>
                        </a:rPr>
                        <a:t>V2VNet</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63.8</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135 ms</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450 ms</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0">
                <a:tc>
                  <a:txBody>
                    <a:bodyPr/>
                    <a:lstStyle/>
                    <a:p>
                      <a:pPr marL="0" indent="0" algn="l">
                        <a:buNone/>
                      </a:pPr>
                      <a:r>
                        <a:rPr lang="en-US" sz="1600" dirty="0">
                          <a:solidFill>
                            <a:srgbClr val="000000"/>
                          </a:solidFill>
                          <a:latin typeface="Arial" pitchFamily="34" charset="0"/>
                          <a:ea typeface="Arial" pitchFamily="34" charset="-122"/>
                          <a:cs typeface="Arial" pitchFamily="34" charset="-120"/>
                        </a:rPr>
                        <a:t>when2com</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61.7</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131 ms</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Arial" pitchFamily="34" charset="0"/>
                          <a:ea typeface="Arial" pitchFamily="34" charset="-122"/>
                          <a:cs typeface="Arial" pitchFamily="34" charset="-120"/>
                        </a:rPr>
                        <a:t>436 ms</a:t>
                      </a:r>
                      <a:endParaRPr lang="en-US" sz="1600" dirty="0">
                        <a:latin typeface="Arial" charset="0"/>
                        <a:ea typeface="Arial" charset="0"/>
                        <a:cs typeface="Arial" charset="0"/>
                      </a:endParaRPr>
                    </a:p>
                  </a:txBody>
                  <a:tcPr marL="101600" marR="101600" marT="50800" marB="50800"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95959"/>
                </a:solidFill>
                <a:latin typeface="Arial"/>
                <a:ea typeface="Arial"/>
                <a:cs typeface="Aria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91672" cy="731520"/>
          </a:xfrm>
          <a:prstGeom prst="rect">
            <a:avLst/>
          </a:prstGeom>
          <a:noFill/>
          <a:ln/>
        </p:spPr>
        <p:txBody>
          <a:bodyPr wrap="square" lIns="0" tIns="0" rIns="0" bIns="0" rtlCol="0" anchor="ctr"/>
          <a:lstStyle/>
          <a:p>
            <a:pPr marL="0" indent="0">
              <a:buNone/>
            </a:pPr>
            <a:r>
              <a:rPr lang="en-US" sz="3200" b="1" dirty="0">
                <a:solidFill>
                  <a:srgbClr val="000000"/>
                </a:solidFill>
                <a:latin typeface="Arial" pitchFamily="34" charset="0"/>
                <a:ea typeface="Arial" pitchFamily="34" charset="-122"/>
                <a:cs typeface="Arial" pitchFamily="34" charset="-120"/>
              </a:rPr>
              <a:t>What This Means</a:t>
            </a:r>
            <a:endParaRPr lang="en-US" sz="3200" dirty="0"/>
          </a:p>
        </p:txBody>
      </p:sp>
      <p:sp>
        <p:nvSpPr>
          <p:cNvPr id="3" name="Text 1"/>
          <p:cNvSpPr txBox="1"/>
          <p:nvPr/>
        </p:nvSpPr>
        <p:spPr>
          <a:xfrm>
            <a:off x="548640" y="1280160"/>
            <a:ext cx="11091672" cy="363220"/>
          </a:xfrm>
          <a:prstGeom prst="rect">
            <a:avLst/>
          </a:prstGeom>
          <a:noFill/>
          <a:ln/>
        </p:spPr>
        <p:txBody>
          <a:bodyPr wrap="square" lIns="0" tIns="0" rIns="0" bIns="0" rtlCol="0" anchor="t"/>
          <a:lstStyle/>
          <a:p>
            <a:pPr marL="228600" indent="-228600">
              <a:buSzPct val="100000"/>
              <a:buChar char="•"/>
            </a:pPr>
            <a:r>
              <a:rPr lang="en-US" sz="2000" b="1" dirty="0">
                <a:solidFill>
                  <a:srgbClr val="000000"/>
                </a:solidFill>
                <a:latin typeface="Arial" pitchFamily="34" charset="0"/>
                <a:ea typeface="Arial" pitchFamily="34" charset="-122"/>
                <a:cs typeface="Arial" pitchFamily="34" charset="-120"/>
              </a:rPr>
              <a:t>Memory is fine. </a:t>
            </a:r>
            <a:r>
              <a:rPr lang="en-US" sz="2000" dirty="0">
                <a:solidFill>
                  <a:srgbClr val="000000"/>
                </a:solidFill>
                <a:latin typeface="Arial" pitchFamily="34" charset="0"/>
                <a:ea typeface="Arial" pitchFamily="34" charset="-122"/>
                <a:cs typeface="Arial" pitchFamily="34" charset="-120"/>
              </a:rPr>
              <a:t>Every model uses about a quarter of the Nano's 4 GB.</a:t>
            </a:r>
            <a:endParaRPr lang="en-US" sz="2000" dirty="0"/>
          </a:p>
        </p:txBody>
      </p:sp>
      <p:sp>
        <p:nvSpPr>
          <p:cNvPr id="4" name="Text 2"/>
          <p:cNvSpPr txBox="1"/>
          <p:nvPr/>
        </p:nvSpPr>
        <p:spPr>
          <a:xfrm>
            <a:off x="548640" y="1807972"/>
            <a:ext cx="11091672" cy="998220"/>
          </a:xfrm>
          <a:prstGeom prst="rect">
            <a:avLst/>
          </a:prstGeom>
          <a:noFill/>
          <a:ln/>
        </p:spPr>
        <p:txBody>
          <a:bodyPr wrap="square" lIns="0" tIns="0" rIns="0" bIns="0" rtlCol="0" anchor="t"/>
          <a:lstStyle/>
          <a:p>
            <a:pPr marL="228600" indent="-228600">
              <a:buSzPct val="100000"/>
              <a:buChar char="•"/>
            </a:pPr>
            <a:r>
              <a:rPr lang="en-US" sz="2000" b="1" dirty="0">
                <a:solidFill>
                  <a:srgbClr val="000000"/>
                </a:solidFill>
                <a:latin typeface="Arial" pitchFamily="34" charset="0"/>
                <a:ea typeface="Arial" pitchFamily="34" charset="-122"/>
                <a:cs typeface="Arial" pitchFamily="34" charset="-120"/>
              </a:rPr>
              <a:t>Speed is the problem. </a:t>
            </a:r>
            <a:r>
              <a:rPr lang="en-US" sz="2000" dirty="0">
                <a:solidFill>
                  <a:srgbClr val="000000"/>
                </a:solidFill>
                <a:latin typeface="Arial" pitchFamily="34" charset="0"/>
                <a:ea typeface="Arial" pitchFamily="34" charset="-122"/>
                <a:cs typeface="Arial" pitchFamily="34" charset="-120"/>
              </a:rPr>
              <a:t>At realistic speed, all three models are over 100 ms. The fusion models need about 4.5 times the target. The models also run in 32-bit today, which halves the Nano's speed, so converting to 16-bit is a must.</a:t>
            </a:r>
            <a:endParaRPr lang="en-US" sz="2000" dirty="0"/>
          </a:p>
        </p:txBody>
      </p:sp>
      <p:sp>
        <p:nvSpPr>
          <p:cNvPr id="5" name="Text 3"/>
          <p:cNvSpPr txBox="1"/>
          <p:nvPr/>
        </p:nvSpPr>
        <p:spPr>
          <a:xfrm>
            <a:off x="548640" y="2970784"/>
            <a:ext cx="11091672" cy="363220"/>
          </a:xfrm>
          <a:prstGeom prst="rect">
            <a:avLst/>
          </a:prstGeom>
          <a:noFill/>
          <a:ln/>
        </p:spPr>
        <p:txBody>
          <a:bodyPr wrap="square" lIns="0" tIns="0" rIns="0" bIns="0" rtlCol="0" anchor="t"/>
          <a:lstStyle/>
          <a:p>
            <a:pPr marL="228600" indent="-228600">
              <a:buSzPct val="100000"/>
              <a:buChar char="•"/>
            </a:pPr>
            <a:r>
              <a:rPr lang="en-US" sz="2000" b="1" dirty="0">
                <a:solidFill>
                  <a:srgbClr val="000000"/>
                </a:solidFill>
                <a:latin typeface="Arial" pitchFamily="34" charset="0"/>
                <a:ea typeface="Arial" pitchFamily="34" charset="-122"/>
                <a:cs typeface="Arial" pitchFamily="34" charset="-120"/>
              </a:rPr>
              <a:t>V2VNet is worth its cost. </a:t>
            </a:r>
            <a:r>
              <a:rPr lang="en-US" sz="2000" dirty="0">
                <a:solidFill>
                  <a:srgbClr val="000000"/>
                </a:solidFill>
                <a:latin typeface="Arial" pitchFamily="34" charset="0"/>
                <a:ea typeface="Arial" pitchFamily="34" charset="-122"/>
                <a:cs typeface="Arial" pitchFamily="34" charset="-120"/>
              </a:rPr>
              <a:t>It takes about twice the compute and gives 36% better accuracy.</a:t>
            </a:r>
            <a:endParaRPr lang="en-US" sz="2000" dirty="0"/>
          </a:p>
        </p:txBody>
      </p:sp>
      <p:sp>
        <p:nvSpPr>
          <p:cNvPr id="6" name="Text 4"/>
          <p:cNvSpPr txBox="1"/>
          <p:nvPr/>
        </p:nvSpPr>
        <p:spPr>
          <a:xfrm>
            <a:off x="548640" y="3498596"/>
            <a:ext cx="11091672" cy="363220"/>
          </a:xfrm>
          <a:prstGeom prst="rect">
            <a:avLst/>
          </a:prstGeom>
          <a:noFill/>
          <a:ln/>
        </p:spPr>
        <p:txBody>
          <a:bodyPr wrap="square" lIns="0" tIns="0" rIns="0" bIns="0" rtlCol="0" anchor="t"/>
          <a:lstStyle/>
          <a:p>
            <a:pPr marL="228600" indent="-228600">
              <a:buSzPct val="100000"/>
              <a:buChar char="•"/>
            </a:pPr>
            <a:r>
              <a:rPr lang="en-US" sz="2000" b="1" dirty="0">
                <a:solidFill>
                  <a:srgbClr val="000000"/>
                </a:solidFill>
                <a:latin typeface="Arial" pitchFamily="34" charset="0"/>
                <a:ea typeface="Arial" pitchFamily="34" charset="-122"/>
                <a:cs typeface="Arial" pitchFamily="34" charset="-120"/>
              </a:rPr>
              <a:t>when2com is not. </a:t>
            </a:r>
            <a:r>
              <a:rPr lang="en-US" sz="2000" dirty="0">
                <a:solidFill>
                  <a:srgbClr val="000000"/>
                </a:solidFill>
                <a:latin typeface="Arial" pitchFamily="34" charset="0"/>
                <a:ea typeface="Arial" pitchFamily="34" charset="-122"/>
                <a:cs typeface="Arial" pitchFamily="34" charset="-120"/>
              </a:rPr>
              <a:t>It is the largest and slowest model and less accurate than the baseline.</a:t>
            </a:r>
            <a:endParaRPr lang="en-US" sz="2000" dirty="0"/>
          </a:p>
        </p:txBody>
      </p:sp>
      <p:sp>
        <p:nvSpPr>
          <p:cNvPr id="7" name="Text 5"/>
          <p:cNvSpPr txBox="1"/>
          <p:nvPr/>
        </p:nvSpPr>
        <p:spPr>
          <a:xfrm>
            <a:off x="548640" y="4026408"/>
            <a:ext cx="11091672" cy="680720"/>
          </a:xfrm>
          <a:prstGeom prst="rect">
            <a:avLst/>
          </a:prstGeom>
          <a:noFill/>
          <a:ln/>
        </p:spPr>
        <p:txBody>
          <a:bodyPr wrap="square" lIns="0" tIns="0" rIns="0" bIns="0" rtlCol="0" anchor="t"/>
          <a:lstStyle/>
          <a:p>
            <a:pPr marL="228600" indent="-228600">
              <a:buSzPct val="100000"/>
              <a:buChar char="•"/>
            </a:pPr>
            <a:r>
              <a:rPr lang="en-US" sz="2000" b="1" dirty="0">
                <a:solidFill>
                  <a:srgbClr val="000000"/>
                </a:solidFill>
                <a:latin typeface="Arial" pitchFamily="34" charset="0"/>
                <a:ea typeface="Arial" pitchFamily="34" charset="-122"/>
                <a:cs typeface="Arial" pitchFamily="34" charset="-120"/>
              </a:rPr>
              <a:t>Where to optimise. </a:t>
            </a:r>
            <a:r>
              <a:rPr lang="en-US" sz="2000" dirty="0">
                <a:solidFill>
                  <a:srgbClr val="000000"/>
                </a:solidFill>
                <a:latin typeface="Arial" pitchFamily="34" charset="0"/>
                <a:ea typeface="Arial" pitchFamily="34" charset="-122"/>
                <a:cs typeface="Arial" pitchFamily="34" charset="-120"/>
              </a:rPr>
              <a:t>Half of V2VNet's compute is its message-passing step, which runs 3 rounds. Running fewer rounds is the first thing to test.</a:t>
            </a:r>
            <a:endParaRPr lang="en-US" sz="2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95959"/>
                </a:solidFill>
                <a:latin typeface="Arial"/>
                <a:ea typeface="Arial"/>
                <a:cs typeface="Aria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91672" cy="731520"/>
          </a:xfrm>
          <a:prstGeom prst="rect">
            <a:avLst/>
          </a:prstGeom>
          <a:noFill/>
          <a:ln/>
        </p:spPr>
        <p:txBody>
          <a:bodyPr wrap="square" lIns="0" tIns="0" rIns="0" bIns="0" rtlCol="0" anchor="ctr"/>
          <a:lstStyle/>
          <a:p>
            <a:pPr marL="0" indent="0">
              <a:buNone/>
            </a:pPr>
            <a:r>
              <a:rPr lang="en-US" sz="3200" b="1" dirty="0">
                <a:solidFill>
                  <a:srgbClr val="000000"/>
                </a:solidFill>
                <a:latin typeface="Arial" pitchFamily="34" charset="0"/>
                <a:ea typeface="Arial" pitchFamily="34" charset="-122"/>
                <a:cs typeface="Arial" pitchFamily="34" charset="-120"/>
              </a:rPr>
              <a:t>Next Week</a:t>
            </a:r>
            <a:endParaRPr lang="en-US" sz="3200" dirty="0"/>
          </a:p>
        </p:txBody>
      </p:sp>
      <p:sp>
        <p:nvSpPr>
          <p:cNvPr id="3" name="Text 1"/>
          <p:cNvSpPr txBox="1"/>
          <p:nvPr/>
        </p:nvSpPr>
        <p:spPr>
          <a:xfrm>
            <a:off x="548640" y="1280160"/>
            <a:ext cx="11091672" cy="2377440"/>
          </a:xfrm>
          <a:prstGeom prst="rect">
            <a:avLst/>
          </a:prstGeom>
          <a:noFill/>
          <a:ln/>
        </p:spPr>
        <p:txBody>
          <a:bodyPr wrap="square" lIns="0" tIns="0" rIns="0" bIns="0" rtlCol="0" anchor="t"/>
          <a:lstStyle/>
          <a:p>
            <a:pPr marL="342900" indent="-342900">
              <a:spcAft>
                <a:spcPts val="1000"/>
              </a:spcAft>
              <a:buSzPct val="100000"/>
              <a:buFont typeface="+mj-lt"/>
              <a:buAutoNum type="arabicPeriod"/>
            </a:pPr>
            <a:r>
              <a:rPr lang="en-US" sz="2000" dirty="0">
                <a:solidFill>
                  <a:srgbClr val="000000"/>
                </a:solidFill>
                <a:latin typeface="Arial" pitchFamily="34" charset="0"/>
                <a:ea typeface="Arial" pitchFamily="34" charset="-122"/>
                <a:cs typeface="Arial" pitchFamily="34" charset="-120"/>
              </a:rPr>
              <a:t>Time each part of the models separately to confirm where the delay comes from.</a:t>
            </a:r>
            <a:endParaRPr lang="en-US" sz="2000" dirty="0"/>
          </a:p>
          <a:p>
            <a:pPr marL="342900" indent="-342900">
              <a:spcAft>
                <a:spcPts val="1000"/>
              </a:spcAft>
              <a:buSzPct val="100000"/>
              <a:buFont typeface="+mj-lt"/>
              <a:buAutoNum type="arabicPeriod"/>
            </a:pPr>
            <a:r>
              <a:rPr lang="en-US" sz="2000" dirty="0">
                <a:solidFill>
                  <a:srgbClr val="000000"/>
                </a:solidFill>
                <a:latin typeface="Arial" pitchFamily="34" charset="0"/>
                <a:ea typeface="Arial" pitchFamily="34" charset="-122"/>
                <a:cs typeface="Arial" pitchFamily="34" charset="-120"/>
              </a:rPr>
              <a:t>Try V2VNet with 1 or 2 message rounds and see how much speed we gain and accuracy we lose.</a:t>
            </a:r>
            <a:endParaRPr lang="en-US" sz="2000" dirty="0"/>
          </a:p>
          <a:p>
            <a:pPr marL="342900" indent="-342900">
              <a:spcAft>
                <a:spcPts val="1000"/>
              </a:spcAft>
              <a:buSzPct val="100000"/>
              <a:buFont typeface="+mj-lt"/>
              <a:buAutoNum type="arabicPeriod"/>
            </a:pPr>
            <a:r>
              <a:rPr lang="en-US" sz="2000" dirty="0">
                <a:solidFill>
                  <a:srgbClr val="000000"/>
                </a:solidFill>
                <a:latin typeface="Arial" pitchFamily="34" charset="0"/>
                <a:ea typeface="Arial" pitchFamily="34" charset="-122"/>
                <a:cs typeface="Arial" pitchFamily="34" charset="-120"/>
              </a:rPr>
              <a:t>Try half-precision to see whether the models get closer to the 100 ms target.</a:t>
            </a:r>
            <a:endParaRPr lang="en-US" sz="2000" dirty="0"/>
          </a:p>
        </p:txBody>
      </p:sp>
      <p:sp>
        <p:nvSpPr>
          <p:cNvPr id="4" name="Text 2"/>
          <p:cNvSpPr txBox="1"/>
          <p:nvPr/>
        </p:nvSpPr>
        <p:spPr>
          <a:xfrm>
            <a:off x="548640" y="4114800"/>
            <a:ext cx="11091672" cy="1463040"/>
          </a:xfrm>
          <a:prstGeom prst="rect">
            <a:avLst/>
          </a:prstGeom>
          <a:noFill/>
          <a:ln/>
        </p:spPr>
        <p:txBody>
          <a:bodyPr wrap="square" lIns="0" tIns="0" rIns="0" bIns="0" rtlCol="0" anchor="t"/>
          <a:lstStyle/>
          <a:p>
            <a:pPr marL="0" indent="0">
              <a:buNone/>
            </a:pPr>
            <a:r>
              <a:rPr lang="en-US" sz="1800" b="1" dirty="0">
                <a:solidFill>
                  <a:srgbClr val="000000"/>
                </a:solidFill>
                <a:latin typeface="Arial" pitchFamily="34" charset="0"/>
                <a:ea typeface="Arial" pitchFamily="34" charset="-122"/>
                <a:cs typeface="Arial" pitchFamily="34" charset="-120"/>
              </a:rPr>
              <a:t>Limits to keep in mind: </a:t>
            </a:r>
            <a:r>
              <a:rPr lang="en-US" sz="1800" dirty="0">
                <a:solidFill>
                  <a:srgbClr val="000000"/>
                </a:solidFill>
                <a:latin typeface="Arial" pitchFamily="34" charset="0"/>
                <a:ea typeface="Arial" pitchFamily="34" charset="-122"/>
                <a:cs typeface="Arial" pitchFamily="34" charset="-120"/>
              </a:rPr>
              <a:t>Nano times are estimates from compute counts and published specs (see the estimation slide), not tests on the device. Each test runs all five vehicles together, so the per-vehicle time is one fifth of the total. Times cover the network only, not the final box clean-up step.</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95959"/>
                </a:solidFill>
                <a:latin typeface="Arial"/>
                <a:ea typeface="Arial"/>
                <a:cs typeface="Arial"/>
              </a:defRPr>
            </a:lvl1pPr>
          </a:lstStyle>
          <a:p>
            <a:pPr algn="l"/>
            <a:fld id="{F7021451-1387-4CA6-816F-3879F97B5CBC}" type="slidenum">
              <a:rPr lang="en-US" b="0"/>
              <a:t>17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1938</Words>
  <Application>Microsoft Macintosh PowerPoint</Application>
  <PresentationFormat>Widescreen</PresentationFormat>
  <Paragraphs>210</Paragraphs>
  <Slides>17</Slides>
  <Notes>17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17</vt:i4>
      </vt:variant>
    </vt:vector>
  </HeadingPairs>
  <TitlesOfParts>
    <vt:vector size="19"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Progress Update: Week 3 (Revised) and Week 4</dc:title>
  <dc:subject>PptxGenJS Presentation</dc:subject>
  <dc:creator>Ganesh Adhikari</dc:creator>
  <cp:lastModifiedBy>Adhikari, Ganesh</cp:lastModifiedBy>
  <cp:revision>2</cp:revision>
  <dcterms:created xsi:type="dcterms:W3CDTF">2026-10-06T02:52:43Z</dcterms:created>
  <dcterms:modified xsi:type="dcterms:W3CDTF">2026-10-06T03:01:46Z</dcterms:modified>
</cp:coreProperties>
</file>